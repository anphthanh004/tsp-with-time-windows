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58" r:id="rId4"/>
    <p:sldId id="276" r:id="rId5"/>
    <p:sldId id="285" r:id="rId6"/>
    <p:sldId id="284" r:id="rId7"/>
    <p:sldId id="275" r:id="rId8"/>
    <p:sldId id="259" r:id="rId9"/>
    <p:sldId id="277" r:id="rId10"/>
    <p:sldId id="278" r:id="rId11"/>
    <p:sldId id="280" r:id="rId12"/>
    <p:sldId id="283" r:id="rId13"/>
    <p:sldId id="282" r:id="rId14"/>
    <p:sldId id="286" r:id="rId15"/>
    <p:sldId id="289" r:id="rId16"/>
    <p:sldId id="290" r:id="rId17"/>
    <p:sldId id="287" r:id="rId18"/>
    <p:sldId id="288" r:id="rId19"/>
    <p:sldId id="281" r:id="rId20"/>
    <p:sldId id="272" r:id="rId21"/>
  </p:sldIdLst>
  <p:sldSz cx="9144000" cy="6858000" type="screen4x3"/>
  <p:notesSz cx="6858000" cy="9144000"/>
  <p:embeddedFontLst>
    <p:embeddedFont>
      <p:font typeface="Cambria Math" panose="02040503050406030204" pitchFamily="18" charset="0"/>
      <p:regular r:id="rId23"/>
    </p:embeddedFont>
    <p:embeddedFont>
      <p:font typeface="Lato" panose="020F0502020204030203"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8" roundtripDataSignature="AMtx7mhhob+T9dDggFRb/ADVxqVAplw7O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 name="Google Shape;6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9884b74e3e_0_14: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8EF25A2C-1ADB-7E72-0B1A-AA39E6DBE054}"/>
            </a:ext>
          </a:extLst>
        </p:cNvPr>
        <p:cNvGrpSpPr/>
        <p:nvPr/>
      </p:nvGrpSpPr>
      <p:grpSpPr>
        <a:xfrm>
          <a:off x="0" y="0"/>
          <a:ext cx="0" cy="0"/>
          <a:chOff x="0" y="0"/>
          <a:chExt cx="0" cy="0"/>
        </a:xfrm>
      </p:grpSpPr>
      <p:sp>
        <p:nvSpPr>
          <p:cNvPr id="67" name="Google Shape;67;g39884b74e3e_0_14:notes">
            <a:extLst>
              <a:ext uri="{FF2B5EF4-FFF2-40B4-BE49-F238E27FC236}">
                <a16:creationId xmlns:a16="http://schemas.microsoft.com/office/drawing/2014/main" id="{09CE4EB0-3DAE-888E-FB42-22B2D2948F5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a:extLst>
              <a:ext uri="{FF2B5EF4-FFF2-40B4-BE49-F238E27FC236}">
                <a16:creationId xmlns:a16="http://schemas.microsoft.com/office/drawing/2014/main" id="{21BF0803-44A2-F532-4A29-857705A11AB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75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DF563D6D-02D1-87AF-CE6D-3548994BC4A8}"/>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82DD415B-DD6A-3369-8E09-250F5E4EAD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BADDED99-0DF5-F642-9544-700D2EEADF3E}"/>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15329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1037451F-5714-5C5E-380C-64B04D84D726}"/>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57B83180-F95C-C751-2D55-8113255C4CD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58A60850-27C1-9BFC-17DA-F4939E74E1B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5192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a:extLst>
            <a:ext uri="{FF2B5EF4-FFF2-40B4-BE49-F238E27FC236}">
              <a16:creationId xmlns:a16="http://schemas.microsoft.com/office/drawing/2014/main" id="{3AB89E9A-7C0C-9FFE-B89B-1004442C7C66}"/>
            </a:ext>
          </a:extLst>
        </p:cNvPr>
        <p:cNvGrpSpPr/>
        <p:nvPr/>
      </p:nvGrpSpPr>
      <p:grpSpPr>
        <a:xfrm>
          <a:off x="0" y="0"/>
          <a:ext cx="0" cy="0"/>
          <a:chOff x="0" y="0"/>
          <a:chExt cx="0" cy="0"/>
        </a:xfrm>
      </p:grpSpPr>
      <p:sp>
        <p:nvSpPr>
          <p:cNvPr id="67" name="Google Shape;67;g39884b74e3e_0_14:notes">
            <a:extLst>
              <a:ext uri="{FF2B5EF4-FFF2-40B4-BE49-F238E27FC236}">
                <a16:creationId xmlns:a16="http://schemas.microsoft.com/office/drawing/2014/main" id="{711604B8-425E-290F-7E05-EECD4D5BF2D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 name="Google Shape;68;g39884b74e3e_0_14:notes">
            <a:extLst>
              <a:ext uri="{FF2B5EF4-FFF2-40B4-BE49-F238E27FC236}">
                <a16:creationId xmlns:a16="http://schemas.microsoft.com/office/drawing/2014/main" id="{086A4A2C-BD0F-1307-5863-850DDE90C35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84544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37D1DB31-F62A-A64A-8CB3-D241D8DD2D11}"/>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ECD478B8-8689-9BFE-E1EB-22F24A8E19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CF69A2C-DE1E-B0C4-775A-C069BEBAC78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99234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9DB3071B-0D01-D02A-714C-DA1066BC76AA}"/>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4B127037-1365-9D50-5BE0-4E4E1DEC07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0E2BBD1-A8D7-1796-06D8-223E896925B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6377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724F594-0509-1148-2A26-0A9D60294F78}"/>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3C4806B6-5E6D-3791-7145-430B248603C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D962A965-E187-4C5E-C210-07205C43240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569652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CC87D68-19DB-9E8D-1B86-C8F8EB75E887}"/>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A261C08A-99EF-89F1-1F2D-6A93CFB7C5C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366BA964-74CD-54A5-8604-63EF1752BB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52052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6FDA33F5-4646-63A8-21A2-9B491F63D332}"/>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66E4F8C6-629F-8E5A-0908-8416F8ADFF5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ECDAC1B8-AE3C-E505-DCE3-99B87945F44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35025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FC76E493-4F21-3424-347E-3020B1B25FFD}"/>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F5A7571E-E34A-77F3-E18F-1C8EDE726E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7FE46183-1990-4066-B466-3A609D8876B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7773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DA2DB964-0EE4-796F-A8D7-1E75FDD56773}"/>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29AA764F-7A6B-FAAE-0FB9-90499E6C891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4BD623FF-8EE9-47F7-40F6-B2F0550744D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32477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EFC2479E-C0BF-5530-CB69-38B135CD02BD}"/>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06861124-F90D-EDAD-1EE0-BC2F714FC51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23971C60-0A4D-C229-E2DE-50930C3A416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53865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8AC959BD-5469-A36A-C31C-590AFC2F2E28}"/>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500D739E-9306-8C55-74C4-EF06A519FB5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13744145-72E0-B602-EB56-05B9BDC53E3B}"/>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1520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a:extLst>
            <a:ext uri="{FF2B5EF4-FFF2-40B4-BE49-F238E27FC236}">
              <a16:creationId xmlns:a16="http://schemas.microsoft.com/office/drawing/2014/main" id="{A28CFAE9-7D1F-138E-67AF-4A4FF35E24BE}"/>
            </a:ext>
          </a:extLst>
        </p:cNvPr>
        <p:cNvGrpSpPr/>
        <p:nvPr/>
      </p:nvGrpSpPr>
      <p:grpSpPr>
        <a:xfrm>
          <a:off x="0" y="0"/>
          <a:ext cx="0" cy="0"/>
          <a:chOff x="0" y="0"/>
          <a:chExt cx="0" cy="0"/>
        </a:xfrm>
      </p:grpSpPr>
      <p:sp>
        <p:nvSpPr>
          <p:cNvPr id="74" name="Google Shape;74;p4:notes">
            <a:extLst>
              <a:ext uri="{FF2B5EF4-FFF2-40B4-BE49-F238E27FC236}">
                <a16:creationId xmlns:a16="http://schemas.microsoft.com/office/drawing/2014/main" id="{0F2BAA45-8080-B353-DB32-F0DD05AC132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4:notes">
            <a:extLst>
              <a:ext uri="{FF2B5EF4-FFF2-40B4-BE49-F238E27FC236}">
                <a16:creationId xmlns:a16="http://schemas.microsoft.com/office/drawing/2014/main" id="{42ABB4DC-76F5-37E4-B39D-7430F3D3AF75}"/>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23135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06DCD328-D638-E633-7DD8-B96A57172253}"/>
            </a:ext>
          </a:extLst>
        </p:cNvPr>
        <p:cNvGrpSpPr/>
        <p:nvPr/>
      </p:nvGrpSpPr>
      <p:grpSpPr>
        <a:xfrm>
          <a:off x="0" y="0"/>
          <a:ext cx="0" cy="0"/>
          <a:chOff x="0" y="0"/>
          <a:chExt cx="0" cy="0"/>
        </a:xfrm>
      </p:grpSpPr>
      <p:sp>
        <p:nvSpPr>
          <p:cNvPr id="201" name="Google Shape;201;g3a99285e230_0_59:notes">
            <a:extLst>
              <a:ext uri="{FF2B5EF4-FFF2-40B4-BE49-F238E27FC236}">
                <a16:creationId xmlns:a16="http://schemas.microsoft.com/office/drawing/2014/main" id="{37EEDB26-7624-BB72-FDB2-0AB2B0E3753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g3a99285e230_0_59:notes">
            <a:extLst>
              <a:ext uri="{FF2B5EF4-FFF2-40B4-BE49-F238E27FC236}">
                <a16:creationId xmlns:a16="http://schemas.microsoft.com/office/drawing/2014/main" id="{BA7FF09A-B834-A2AE-B8E3-3D07A0DF43F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097631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bg>
      <p:bgPr>
        <a:blipFill>
          <a:blip r:embed="rId2">
            <a:alphaModFix/>
          </a:blip>
          <a:stretch>
            <a:fillRect/>
          </a:stretch>
        </a:blipFill>
        <a:effectLst/>
      </p:bgPr>
    </p:bg>
    <p:spTree>
      <p:nvGrpSpPr>
        <p:cNvPr id="1"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and Content">
  <p:cSld name="1_Title and Content">
    <p:bg>
      <p:bgPr>
        <a:blipFill>
          <a:blip r:embed="rId2">
            <a:alphaModFix/>
          </a:blip>
          <a:stretch>
            <a:fillRect/>
          </a:stretch>
        </a:blipFill>
        <a:effectLst/>
      </p:bgPr>
    </p:bg>
    <p:spTree>
      <p:nvGrpSpPr>
        <p:cNvPr id="1" name="Shape 1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Section Header">
  <p:cSld name="1_Section Header">
    <p:bg>
      <p:bgPr>
        <a:blipFill>
          <a:blip r:embed="rId2">
            <a:alphaModFix/>
          </a:blip>
          <a:stretch>
            <a:fillRect/>
          </a:stretch>
        </a:blipFill>
        <a:effectLst/>
      </p:bgPr>
    </p:bg>
    <p:spTree>
      <p:nvGrpSpPr>
        <p:cNvPr id="1" name="Shape 12"/>
        <p:cNvGrpSpPr/>
        <p:nvPr/>
      </p:nvGrpSpPr>
      <p:grpSpPr>
        <a:xfrm>
          <a:off x="0" y="0"/>
          <a:ext cx="0" cy="0"/>
          <a:chOff x="0" y="0"/>
          <a:chExt cx="0" cy="0"/>
        </a:xfrm>
      </p:grpSpPr>
      <p:sp>
        <p:nvSpPr>
          <p:cNvPr id="13" name="Google Shape;13;p15"/>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i="0" u="none" strike="noStrike" cap="none">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5"/>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i="0" u="none" strike="noStrike" cap="none">
                <a:solidFill>
                  <a:srgbClr val="C00000"/>
                </a:solidFill>
                <a:latin typeface="Lato"/>
                <a:ea typeface="Lato"/>
                <a:cs typeface="Lato"/>
                <a:sym typeface="Lato"/>
              </a:defRPr>
            </a:lvl1pPr>
            <a:lvl2pPr marL="0" marR="0" lvl="1" indent="0" algn="r" rtl="0">
              <a:spcBef>
                <a:spcPts val="0"/>
              </a:spcBef>
              <a:buNone/>
              <a:defRPr sz="1200" b="1" i="0" u="none" strike="noStrike" cap="none">
                <a:solidFill>
                  <a:srgbClr val="C00000"/>
                </a:solidFill>
                <a:latin typeface="Lato"/>
                <a:ea typeface="Lato"/>
                <a:cs typeface="Lato"/>
                <a:sym typeface="Lato"/>
              </a:defRPr>
            </a:lvl2pPr>
            <a:lvl3pPr marL="0" marR="0" lvl="2" indent="0" algn="r" rtl="0">
              <a:spcBef>
                <a:spcPts val="0"/>
              </a:spcBef>
              <a:buNone/>
              <a:defRPr sz="1200" b="1" i="0" u="none" strike="noStrike" cap="none">
                <a:solidFill>
                  <a:srgbClr val="C00000"/>
                </a:solidFill>
                <a:latin typeface="Lato"/>
                <a:ea typeface="Lato"/>
                <a:cs typeface="Lato"/>
                <a:sym typeface="Lato"/>
              </a:defRPr>
            </a:lvl3pPr>
            <a:lvl4pPr marL="0" marR="0" lvl="3" indent="0" algn="r" rtl="0">
              <a:spcBef>
                <a:spcPts val="0"/>
              </a:spcBef>
              <a:buNone/>
              <a:defRPr sz="1200" b="1" i="0" u="none" strike="noStrike" cap="none">
                <a:solidFill>
                  <a:srgbClr val="C00000"/>
                </a:solidFill>
                <a:latin typeface="Lato"/>
                <a:ea typeface="Lato"/>
                <a:cs typeface="Lato"/>
                <a:sym typeface="Lato"/>
              </a:defRPr>
            </a:lvl4pPr>
            <a:lvl5pPr marL="0" marR="0" lvl="4" indent="0" algn="r" rtl="0">
              <a:spcBef>
                <a:spcPts val="0"/>
              </a:spcBef>
              <a:buNone/>
              <a:defRPr sz="1200" b="1" i="0" u="none" strike="noStrike" cap="none">
                <a:solidFill>
                  <a:srgbClr val="C00000"/>
                </a:solidFill>
                <a:latin typeface="Lato"/>
                <a:ea typeface="Lato"/>
                <a:cs typeface="Lato"/>
                <a:sym typeface="Lato"/>
              </a:defRPr>
            </a:lvl5pPr>
            <a:lvl6pPr marL="0" marR="0" lvl="5" indent="0" algn="r" rtl="0">
              <a:spcBef>
                <a:spcPts val="0"/>
              </a:spcBef>
              <a:buNone/>
              <a:defRPr sz="1200" b="1" i="0" u="none" strike="noStrike" cap="none">
                <a:solidFill>
                  <a:srgbClr val="C00000"/>
                </a:solidFill>
                <a:latin typeface="Lato"/>
                <a:ea typeface="Lato"/>
                <a:cs typeface="Lato"/>
                <a:sym typeface="Lato"/>
              </a:defRPr>
            </a:lvl6pPr>
            <a:lvl7pPr marL="0" marR="0" lvl="6" indent="0" algn="r" rtl="0">
              <a:spcBef>
                <a:spcPts val="0"/>
              </a:spcBef>
              <a:buNone/>
              <a:defRPr sz="1200" b="1" i="0" u="none" strike="noStrike" cap="none">
                <a:solidFill>
                  <a:srgbClr val="C00000"/>
                </a:solidFill>
                <a:latin typeface="Lato"/>
                <a:ea typeface="Lato"/>
                <a:cs typeface="Lato"/>
                <a:sym typeface="Lato"/>
              </a:defRPr>
            </a:lvl7pPr>
            <a:lvl8pPr marL="0" marR="0" lvl="7" indent="0" algn="r" rtl="0">
              <a:spcBef>
                <a:spcPts val="0"/>
              </a:spcBef>
              <a:buNone/>
              <a:defRPr sz="1200" b="1" i="0" u="none" strike="noStrike" cap="none">
                <a:solidFill>
                  <a:srgbClr val="C00000"/>
                </a:solidFill>
                <a:latin typeface="Lato"/>
                <a:ea typeface="Lato"/>
                <a:cs typeface="Lato"/>
                <a:sym typeface="Lato"/>
              </a:defRPr>
            </a:lvl8pPr>
            <a:lvl9pPr marL="0" marR="0" lvl="8" indent="0" algn="r" rtl="0">
              <a:spcBef>
                <a:spcPts val="0"/>
              </a:spcBef>
              <a:buNone/>
              <a:defRPr sz="1200" b="1" i="0" u="none" strike="noStrike" cap="none">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16" name="Google Shape;16;p15"/>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15"/>
          <p:cNvSpPr txBox="1">
            <a:spLocks noGrp="1"/>
          </p:cNvSpPr>
          <p:nvPr>
            <p:ph type="body" idx="1"/>
          </p:nvPr>
        </p:nvSpPr>
        <p:spPr>
          <a:xfrm>
            <a:off x="235077" y="841247"/>
            <a:ext cx="8674100" cy="5303393"/>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Content with Caption">
  <p:cSld name="1_Content with Caption">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16"/>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F2F2F2"/>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6"/>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16"/>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Two Content">
  <p:cSld name="2_Two Content">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17"/>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4" name="Google Shape;24;p17"/>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17"/>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7"/>
          <p:cNvSpPr txBox="1">
            <a:spLocks noGrp="1"/>
          </p:cNvSpPr>
          <p:nvPr>
            <p:ph type="body" idx="1"/>
          </p:nvPr>
        </p:nvSpPr>
        <p:spPr>
          <a:xfrm>
            <a:off x="528828"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7" name="Google Shape;27;p17"/>
          <p:cNvSpPr txBox="1">
            <a:spLocks noGrp="1"/>
          </p:cNvSpPr>
          <p:nvPr>
            <p:ph type="body" idx="2"/>
          </p:nvPr>
        </p:nvSpPr>
        <p:spPr>
          <a:xfrm>
            <a:off x="4572000" y="1423289"/>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8" name="Google Shape;28;p17"/>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_Blank">
  <p:cSld name="2_Blank">
    <p:bg>
      <p:bgPr>
        <a:blipFill>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1" name="Google Shape;31;p18"/>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2" name="Google Shape;32;p18"/>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3" name="Google Shape;33;p18"/>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1F3864"/>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18"/>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1F3864"/>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18"/>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1F3864"/>
                </a:solidFill>
                <a:latin typeface="Lato"/>
                <a:ea typeface="Lato"/>
                <a:cs typeface="Lato"/>
                <a:sym typeface="Lato"/>
              </a:defRPr>
            </a:lvl1pPr>
            <a:lvl2pPr marL="0" marR="0" lvl="1" indent="0" algn="r" rtl="0">
              <a:spcBef>
                <a:spcPts val="0"/>
              </a:spcBef>
              <a:buNone/>
              <a:defRPr sz="1200" b="1">
                <a:solidFill>
                  <a:srgbClr val="1F3864"/>
                </a:solidFill>
                <a:latin typeface="Lato"/>
                <a:ea typeface="Lato"/>
                <a:cs typeface="Lato"/>
                <a:sym typeface="Lato"/>
              </a:defRPr>
            </a:lvl2pPr>
            <a:lvl3pPr marL="0" marR="0" lvl="2" indent="0" algn="r" rtl="0">
              <a:spcBef>
                <a:spcPts val="0"/>
              </a:spcBef>
              <a:buNone/>
              <a:defRPr sz="1200" b="1">
                <a:solidFill>
                  <a:srgbClr val="1F3864"/>
                </a:solidFill>
                <a:latin typeface="Lato"/>
                <a:ea typeface="Lato"/>
                <a:cs typeface="Lato"/>
                <a:sym typeface="Lato"/>
              </a:defRPr>
            </a:lvl3pPr>
            <a:lvl4pPr marL="0" marR="0" lvl="3" indent="0" algn="r" rtl="0">
              <a:spcBef>
                <a:spcPts val="0"/>
              </a:spcBef>
              <a:buNone/>
              <a:defRPr sz="1200" b="1">
                <a:solidFill>
                  <a:srgbClr val="1F3864"/>
                </a:solidFill>
                <a:latin typeface="Lato"/>
                <a:ea typeface="Lato"/>
                <a:cs typeface="Lato"/>
                <a:sym typeface="Lato"/>
              </a:defRPr>
            </a:lvl4pPr>
            <a:lvl5pPr marL="0" marR="0" lvl="4" indent="0" algn="r" rtl="0">
              <a:spcBef>
                <a:spcPts val="0"/>
              </a:spcBef>
              <a:buNone/>
              <a:defRPr sz="1200" b="1">
                <a:solidFill>
                  <a:srgbClr val="1F3864"/>
                </a:solidFill>
                <a:latin typeface="Lato"/>
                <a:ea typeface="Lato"/>
                <a:cs typeface="Lato"/>
                <a:sym typeface="Lato"/>
              </a:defRPr>
            </a:lvl5pPr>
            <a:lvl6pPr marL="0" marR="0" lvl="5" indent="0" algn="r" rtl="0">
              <a:spcBef>
                <a:spcPts val="0"/>
              </a:spcBef>
              <a:buNone/>
              <a:defRPr sz="1200" b="1">
                <a:solidFill>
                  <a:srgbClr val="1F3864"/>
                </a:solidFill>
                <a:latin typeface="Lato"/>
                <a:ea typeface="Lato"/>
                <a:cs typeface="Lato"/>
                <a:sym typeface="Lato"/>
              </a:defRPr>
            </a:lvl6pPr>
            <a:lvl7pPr marL="0" marR="0" lvl="6" indent="0" algn="r" rtl="0">
              <a:spcBef>
                <a:spcPts val="0"/>
              </a:spcBef>
              <a:buNone/>
              <a:defRPr sz="1200" b="1">
                <a:solidFill>
                  <a:srgbClr val="1F3864"/>
                </a:solidFill>
                <a:latin typeface="Lato"/>
                <a:ea typeface="Lato"/>
                <a:cs typeface="Lato"/>
                <a:sym typeface="Lato"/>
              </a:defRPr>
            </a:lvl7pPr>
            <a:lvl8pPr marL="0" marR="0" lvl="7" indent="0" algn="r" rtl="0">
              <a:spcBef>
                <a:spcPts val="0"/>
              </a:spcBef>
              <a:buNone/>
              <a:defRPr sz="1200" b="1">
                <a:solidFill>
                  <a:srgbClr val="1F3864"/>
                </a:solidFill>
                <a:latin typeface="Lato"/>
                <a:ea typeface="Lato"/>
                <a:cs typeface="Lato"/>
                <a:sym typeface="Lato"/>
              </a:defRPr>
            </a:lvl8pPr>
            <a:lvl9pPr marL="0" marR="0" lvl="8" indent="0" algn="r" rtl="0">
              <a:spcBef>
                <a:spcPts val="0"/>
              </a:spcBef>
              <a:buNone/>
              <a:defRPr sz="1200" b="1">
                <a:solidFill>
                  <a:srgbClr val="1F3864"/>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9"/>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19"/>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19"/>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40" name="Google Shape;40;p19"/>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19"/>
          <p:cNvSpPr txBox="1">
            <a:spLocks noGrp="1"/>
          </p:cNvSpPr>
          <p:nvPr>
            <p:ph type="body" idx="1"/>
          </p:nvPr>
        </p:nvSpPr>
        <p:spPr>
          <a:xfrm>
            <a:off x="234950" y="1227550"/>
            <a:ext cx="8674100" cy="486844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42"/>
        <p:cNvGrpSpPr/>
        <p:nvPr/>
      </p:nvGrpSpPr>
      <p:grpSpPr>
        <a:xfrm>
          <a:off x="0" y="0"/>
          <a:ext cx="0" cy="0"/>
          <a:chOff x="0" y="0"/>
          <a:chExt cx="0" cy="0"/>
        </a:xfrm>
      </p:grpSpPr>
      <p:sp>
        <p:nvSpPr>
          <p:cNvPr id="43" name="Google Shape;43;p20"/>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4" name="Google Shape;44;p20"/>
          <p:cNvSpPr txBox="1">
            <a:spLocks noGrp="1"/>
          </p:cNvSpPr>
          <p:nvPr>
            <p:ph type="body" idx="1"/>
          </p:nvPr>
        </p:nvSpPr>
        <p:spPr>
          <a:xfrm>
            <a:off x="595884"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5" name="Google Shape;45;p20"/>
          <p:cNvSpPr txBox="1">
            <a:spLocks noGrp="1"/>
          </p:cNvSpPr>
          <p:nvPr>
            <p:ph type="body" idx="2"/>
          </p:nvPr>
        </p:nvSpPr>
        <p:spPr>
          <a:xfrm>
            <a:off x="4639056" y="1533017"/>
            <a:ext cx="3886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20"/>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0"/>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0"/>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_Comparison">
  <p:cSld name="3_Comparison">
    <p:bg>
      <p:bgPr>
        <a:blipFill>
          <a:blip r:embed="rId2">
            <a:alphaModFix/>
          </a:blip>
          <a:stretch>
            <a:fillRect/>
          </a:stretch>
        </a:blipFill>
        <a:effectLst/>
      </p:bgPr>
    </p:bg>
    <p:spTree>
      <p:nvGrpSpPr>
        <p:cNvPr id="1" name="Shape 49"/>
        <p:cNvGrpSpPr/>
        <p:nvPr/>
      </p:nvGrpSpPr>
      <p:grpSpPr>
        <a:xfrm>
          <a:off x="0" y="0"/>
          <a:ext cx="0" cy="0"/>
          <a:chOff x="0" y="0"/>
          <a:chExt cx="0" cy="0"/>
        </a:xfrm>
      </p:grpSpPr>
      <p:sp>
        <p:nvSpPr>
          <p:cNvPr id="50" name="Google Shape;50;p21"/>
          <p:cNvSpPr txBox="1">
            <a:spLocks noGrp="1"/>
          </p:cNvSpPr>
          <p:nvPr>
            <p:ph type="dt" idx="10"/>
          </p:nvPr>
        </p:nvSpPr>
        <p:spPr>
          <a:xfrm>
            <a:off x="628650" y="6565257"/>
            <a:ext cx="20574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21"/>
          <p:cNvSpPr txBox="1">
            <a:spLocks noGrp="1"/>
          </p:cNvSpPr>
          <p:nvPr>
            <p:ph type="ftr" idx="11"/>
          </p:nvPr>
        </p:nvSpPr>
        <p:spPr>
          <a:xfrm>
            <a:off x="3028950" y="6565257"/>
            <a:ext cx="3086100"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b="1">
                <a:solidFill>
                  <a:srgbClr val="C00000"/>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2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1">
                <a:solidFill>
                  <a:srgbClr val="C00000"/>
                </a:solidFill>
                <a:latin typeface="Lato"/>
                <a:ea typeface="Lato"/>
                <a:cs typeface="Lato"/>
                <a:sym typeface="Lato"/>
              </a:defRPr>
            </a:lvl1pPr>
            <a:lvl2pPr marL="0" marR="0" lvl="1" indent="0" algn="r" rtl="0">
              <a:spcBef>
                <a:spcPts val="0"/>
              </a:spcBef>
              <a:buNone/>
              <a:defRPr sz="1200" b="1">
                <a:solidFill>
                  <a:srgbClr val="C00000"/>
                </a:solidFill>
                <a:latin typeface="Lato"/>
                <a:ea typeface="Lato"/>
                <a:cs typeface="Lato"/>
                <a:sym typeface="Lato"/>
              </a:defRPr>
            </a:lvl2pPr>
            <a:lvl3pPr marL="0" marR="0" lvl="2" indent="0" algn="r" rtl="0">
              <a:spcBef>
                <a:spcPts val="0"/>
              </a:spcBef>
              <a:buNone/>
              <a:defRPr sz="1200" b="1">
                <a:solidFill>
                  <a:srgbClr val="C00000"/>
                </a:solidFill>
                <a:latin typeface="Lato"/>
                <a:ea typeface="Lato"/>
                <a:cs typeface="Lato"/>
                <a:sym typeface="Lato"/>
              </a:defRPr>
            </a:lvl3pPr>
            <a:lvl4pPr marL="0" marR="0" lvl="3" indent="0" algn="r" rtl="0">
              <a:spcBef>
                <a:spcPts val="0"/>
              </a:spcBef>
              <a:buNone/>
              <a:defRPr sz="1200" b="1">
                <a:solidFill>
                  <a:srgbClr val="C00000"/>
                </a:solidFill>
                <a:latin typeface="Lato"/>
                <a:ea typeface="Lato"/>
                <a:cs typeface="Lato"/>
                <a:sym typeface="Lato"/>
              </a:defRPr>
            </a:lvl4pPr>
            <a:lvl5pPr marL="0" marR="0" lvl="4" indent="0" algn="r" rtl="0">
              <a:spcBef>
                <a:spcPts val="0"/>
              </a:spcBef>
              <a:buNone/>
              <a:defRPr sz="1200" b="1">
                <a:solidFill>
                  <a:srgbClr val="C00000"/>
                </a:solidFill>
                <a:latin typeface="Lato"/>
                <a:ea typeface="Lato"/>
                <a:cs typeface="Lato"/>
                <a:sym typeface="Lato"/>
              </a:defRPr>
            </a:lvl5pPr>
            <a:lvl6pPr marL="0" marR="0" lvl="5" indent="0" algn="r" rtl="0">
              <a:spcBef>
                <a:spcPts val="0"/>
              </a:spcBef>
              <a:buNone/>
              <a:defRPr sz="1200" b="1">
                <a:solidFill>
                  <a:srgbClr val="C00000"/>
                </a:solidFill>
                <a:latin typeface="Lato"/>
                <a:ea typeface="Lato"/>
                <a:cs typeface="Lato"/>
                <a:sym typeface="Lato"/>
              </a:defRPr>
            </a:lvl6pPr>
            <a:lvl7pPr marL="0" marR="0" lvl="6" indent="0" algn="r" rtl="0">
              <a:spcBef>
                <a:spcPts val="0"/>
              </a:spcBef>
              <a:buNone/>
              <a:defRPr sz="1200" b="1">
                <a:solidFill>
                  <a:srgbClr val="C00000"/>
                </a:solidFill>
                <a:latin typeface="Lato"/>
                <a:ea typeface="Lato"/>
                <a:cs typeface="Lato"/>
                <a:sym typeface="Lato"/>
              </a:defRPr>
            </a:lvl7pPr>
            <a:lvl8pPr marL="0" marR="0" lvl="7" indent="0" algn="r" rtl="0">
              <a:spcBef>
                <a:spcPts val="0"/>
              </a:spcBef>
              <a:buNone/>
              <a:defRPr sz="1200" b="1">
                <a:solidFill>
                  <a:srgbClr val="C00000"/>
                </a:solidFill>
                <a:latin typeface="Lato"/>
                <a:ea typeface="Lato"/>
                <a:cs typeface="Lato"/>
                <a:sym typeface="Lato"/>
              </a:defRPr>
            </a:lvl8pPr>
            <a:lvl9pPr marL="0" marR="0" lvl="8" indent="0" algn="r" rtl="0">
              <a:spcBef>
                <a:spcPts val="0"/>
              </a:spcBef>
              <a:buNone/>
              <a:defRPr sz="1200" b="1">
                <a:solidFill>
                  <a:srgbClr val="C00000"/>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
        <p:nvSpPr>
          <p:cNvPr id="53" name="Google Shape;53;p21"/>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lt1"/>
              </a:buClr>
              <a:buSzPts val="2800"/>
              <a:buFont typeface="Lato"/>
              <a:buNone/>
              <a:defRPr sz="2800" b="1" i="0" u="none" strike="noStrike" cap="none">
                <a:solidFill>
                  <a:schemeClr val="lt1"/>
                </a:solidFill>
                <a:latin typeface="Lato"/>
                <a:ea typeface="Lato"/>
                <a:cs typeface="Lato"/>
                <a:sym typeface="Lato"/>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4" name="Google Shape;54;p21"/>
          <p:cNvSpPr txBox="1">
            <a:spLocks noGrp="1"/>
          </p:cNvSpPr>
          <p:nvPr>
            <p:ph type="body" idx="1"/>
          </p:nvPr>
        </p:nvSpPr>
        <p:spPr>
          <a:xfrm>
            <a:off x="234950" y="1164920"/>
            <a:ext cx="8674100" cy="4931079"/>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a:stretch/>
        </p:blipFill>
        <p:spPr>
          <a:xfrm>
            <a:off x="413012" y="398419"/>
            <a:ext cx="2037225" cy="611594"/>
          </a:xfrm>
          <a:prstGeom prst="rect">
            <a:avLst/>
          </a:prstGeom>
          <a:noFill/>
          <a:ln>
            <a:noFill/>
          </a:ln>
        </p:spPr>
      </p:pic>
      <p:sp>
        <p:nvSpPr>
          <p:cNvPr id="64" name="Google Shape;64;p2"/>
          <p:cNvSpPr txBox="1"/>
          <p:nvPr/>
        </p:nvSpPr>
        <p:spPr>
          <a:xfrm>
            <a:off x="413012" y="1944936"/>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5400"/>
              <a:buFont typeface="Lato"/>
              <a:buNone/>
            </a:pPr>
            <a:r>
              <a:rPr lang="en-US" sz="5400" b="1" i="0" u="none" strike="noStrike" cap="none">
                <a:solidFill>
                  <a:srgbClr val="C00000"/>
                </a:solidFill>
                <a:latin typeface="Lato"/>
                <a:ea typeface="Lato"/>
                <a:cs typeface="Lato"/>
                <a:sym typeface="Lato"/>
              </a:rPr>
              <a:t>TSP with time window</a:t>
            </a:r>
            <a:endParaRPr sz="5400" b="1" i="0" u="none" strike="noStrike" cap="none">
              <a:solidFill>
                <a:srgbClr val="C00000"/>
              </a:solidFill>
              <a:latin typeface="Lato"/>
              <a:ea typeface="Lato"/>
              <a:cs typeface="Lato"/>
              <a:sym typeface="Lato"/>
            </a:endParaRPr>
          </a:p>
        </p:txBody>
      </p:sp>
      <p:sp>
        <p:nvSpPr>
          <p:cNvPr id="65" name="Google Shape;65;p2"/>
          <p:cNvSpPr txBox="1"/>
          <p:nvPr/>
        </p:nvSpPr>
        <p:spPr>
          <a:xfrm>
            <a:off x="413012" y="3090922"/>
            <a:ext cx="7342500" cy="8487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2800"/>
              <a:buFont typeface="Lato"/>
              <a:buNone/>
            </a:pPr>
            <a:r>
              <a:rPr lang="en-US" sz="2800" b="0" i="0" u="none" strike="noStrike" cap="none">
                <a:solidFill>
                  <a:srgbClr val="C00000"/>
                </a:solidFill>
                <a:latin typeface="Lato"/>
                <a:ea typeface="Lato"/>
                <a:cs typeface="Lato"/>
                <a:sym typeface="Lato"/>
              </a:rPr>
              <a:t>Group 5</a:t>
            </a:r>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Thanh An - 20224911</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Đoàn Mạnh Hùng - 20224995</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Phạm Việt Hoàng - 20224854</a:t>
            </a:r>
            <a:endParaRPr sz="2800">
              <a:solidFill>
                <a:srgbClr val="C00000"/>
              </a:solidFill>
              <a:latin typeface="Lato"/>
              <a:ea typeface="Lato"/>
              <a:cs typeface="Lato"/>
              <a:sym typeface="Lato"/>
            </a:endParaRPr>
          </a:p>
          <a:p>
            <a:pPr marL="457200" marR="0" lvl="0" indent="-406400" algn="l" rtl="0">
              <a:lnSpc>
                <a:spcPct val="90000"/>
              </a:lnSpc>
              <a:spcBef>
                <a:spcPts val="0"/>
              </a:spcBef>
              <a:spcAft>
                <a:spcPts val="0"/>
              </a:spcAft>
              <a:buClr>
                <a:srgbClr val="C00000"/>
              </a:buClr>
              <a:buSzPts val="2800"/>
              <a:buFont typeface="Lato"/>
              <a:buChar char="-"/>
            </a:pPr>
            <a:r>
              <a:rPr lang="en-US" sz="2800">
                <a:solidFill>
                  <a:srgbClr val="C00000"/>
                </a:solidFill>
                <a:latin typeface="Lato"/>
                <a:ea typeface="Lato"/>
                <a:cs typeface="Lato"/>
                <a:sym typeface="Lato"/>
              </a:rPr>
              <a:t>Nguyễn Thị Trà My - 2022549</a:t>
            </a:r>
            <a:endParaRPr sz="2800">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a:p>
            <a:pPr marL="0" marR="0" lvl="0" indent="0" algn="l" rtl="0">
              <a:lnSpc>
                <a:spcPct val="90000"/>
              </a:lnSpc>
              <a:spcBef>
                <a:spcPts val="0"/>
              </a:spcBef>
              <a:spcAft>
                <a:spcPts val="0"/>
              </a:spcAft>
              <a:buClr>
                <a:srgbClr val="C00000"/>
              </a:buClr>
              <a:buSzPts val="2800"/>
              <a:buFont typeface="Lato"/>
              <a:buNone/>
            </a:pPr>
            <a:endParaRPr sz="2800" b="0" i="0" u="none" strike="noStrike" cap="none">
              <a:solidFill>
                <a:srgbClr val="C00000"/>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g39884b74e3e_0_14"/>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3</a:t>
            </a:fld>
            <a:endParaRPr/>
          </a:p>
        </p:txBody>
      </p:sp>
      <p:sp>
        <p:nvSpPr>
          <p:cNvPr id="71" name="Google Shape;71;g39884b74e3e_0_14"/>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en-US" dirty="0" err="1"/>
              <a:t>Giới</a:t>
            </a:r>
            <a:r>
              <a:rPr lang="en-US" dirty="0"/>
              <a:t> </a:t>
            </a:r>
            <a:r>
              <a:rPr lang="en-US" dirty="0" err="1"/>
              <a:t>thiệu</a:t>
            </a:r>
            <a:r>
              <a:rPr lang="en-US" dirty="0"/>
              <a:t> </a:t>
            </a:r>
            <a:r>
              <a:rPr lang="en-US" dirty="0" err="1"/>
              <a:t>bài</a:t>
            </a:r>
            <a:r>
              <a:rPr lang="en-US" dirty="0"/>
              <a:t> </a:t>
            </a:r>
            <a:r>
              <a:rPr lang="en-US" dirty="0" err="1"/>
              <a:t>toán</a:t>
            </a:r>
            <a:endParaRPr dirty="0"/>
          </a:p>
        </p:txBody>
      </p:sp>
      <p:sp>
        <p:nvSpPr>
          <p:cNvPr id="72" name="Google Shape;72;g39884b74e3e_0_14"/>
          <p:cNvSpPr txBox="1">
            <a:spLocks noGrp="1"/>
          </p:cNvSpPr>
          <p:nvPr>
            <p:ph type="body" idx="1"/>
          </p:nvPr>
        </p:nvSpPr>
        <p:spPr>
          <a:xfrm>
            <a:off x="235077" y="841247"/>
            <a:ext cx="8674200" cy="5303400"/>
          </a:xfrm>
          <a:prstGeom prst="rect">
            <a:avLst/>
          </a:prstGeom>
          <a:noFill/>
          <a:ln>
            <a:noFill/>
          </a:ln>
        </p:spPr>
        <p:txBody>
          <a:bodyPr spcFirstLastPara="1" wrap="square" lIns="91425" tIns="45700" rIns="91425" bIns="45700" anchor="t" anchorCtr="0">
            <a:noAutofit/>
          </a:bodyPr>
          <a:lstStyle/>
          <a:p>
            <a:pPr marL="228600" lvl="0" indent="-76200" algn="l" rtl="0">
              <a:lnSpc>
                <a:spcPct val="90000"/>
              </a:lnSpc>
              <a:spcBef>
                <a:spcPts val="0"/>
              </a:spcBef>
              <a:spcAft>
                <a:spcPts val="0"/>
              </a:spcAft>
              <a:buClr>
                <a:schemeClr val="dk1"/>
              </a:buClr>
              <a:buSzPts val="2400"/>
              <a:buNone/>
            </a:pPr>
            <a:endParaRPr sz="2400" dirty="0"/>
          </a:p>
          <a:p>
            <a:pPr marL="228600" lvl="0" indent="-228600" algn="l" rtl="0">
              <a:lnSpc>
                <a:spcPct val="90000"/>
              </a:lnSpc>
              <a:spcBef>
                <a:spcPts val="1000"/>
              </a:spcBef>
              <a:spcAft>
                <a:spcPts val="0"/>
              </a:spcAft>
              <a:buClr>
                <a:schemeClr val="dk1"/>
              </a:buClr>
              <a:buSzPts val="2400"/>
              <a:buChar char="•"/>
            </a:pPr>
            <a:r>
              <a:rPr lang="en-US" sz="2400" dirty="0" err="1"/>
              <a:t>Một</a:t>
            </a:r>
            <a:r>
              <a:rPr lang="en-US" sz="2400" dirty="0"/>
              <a:t> </a:t>
            </a: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lấy</a:t>
            </a:r>
            <a:r>
              <a:rPr lang="en-US" sz="2400" dirty="0"/>
              <a:t> </a:t>
            </a:r>
            <a:r>
              <a:rPr lang="en-US" sz="2400" dirty="0" err="1"/>
              <a:t>hàng</a:t>
            </a:r>
            <a:r>
              <a:rPr lang="en-US" sz="2400" dirty="0"/>
              <a:t> ở </a:t>
            </a:r>
            <a:r>
              <a:rPr lang="en-US" sz="2400" dirty="0" err="1"/>
              <a:t>kho</a:t>
            </a:r>
            <a:r>
              <a:rPr lang="en-US" sz="2400" dirty="0"/>
              <a:t> (</a:t>
            </a:r>
            <a:r>
              <a:rPr lang="en-US" sz="2400" dirty="0" err="1"/>
              <a:t>điểm</a:t>
            </a:r>
            <a:r>
              <a:rPr lang="en-US" sz="2400" dirty="0"/>
              <a:t> 0) </a:t>
            </a:r>
            <a:r>
              <a:rPr lang="en-US" sz="2400" dirty="0" err="1"/>
              <a:t>và</a:t>
            </a:r>
            <a:r>
              <a:rPr lang="en-US" sz="2400" dirty="0"/>
              <a:t> </a:t>
            </a:r>
            <a:r>
              <a:rPr lang="en-US" sz="2400" dirty="0" err="1"/>
              <a:t>cần</a:t>
            </a:r>
            <a:r>
              <a:rPr lang="en-US" sz="2400" dirty="0"/>
              <a:t> </a:t>
            </a:r>
            <a:r>
              <a:rPr lang="en-US" sz="2400" dirty="0" err="1"/>
              <a:t>đi</a:t>
            </a:r>
            <a:r>
              <a:rPr lang="en-US" sz="2400" dirty="0"/>
              <a:t> </a:t>
            </a:r>
            <a:r>
              <a:rPr lang="en-US" sz="2400" dirty="0" err="1"/>
              <a:t>giao</a:t>
            </a:r>
            <a:r>
              <a:rPr lang="en-US" sz="2400" dirty="0"/>
              <a:t> </a:t>
            </a:r>
            <a:r>
              <a:rPr lang="en-US" sz="2400" dirty="0" err="1"/>
              <a:t>hàng</a:t>
            </a:r>
            <a:r>
              <a:rPr lang="en-US" sz="2400" dirty="0"/>
              <a:t> </a:t>
            </a:r>
            <a:r>
              <a:rPr lang="en-US" sz="2400" dirty="0" err="1"/>
              <a:t>cho</a:t>
            </a:r>
            <a:r>
              <a:rPr lang="en-US" sz="2400" dirty="0"/>
              <a:t> N </a:t>
            </a:r>
            <a:r>
              <a:rPr lang="en-US" sz="2400" dirty="0" err="1"/>
              <a:t>khách</a:t>
            </a:r>
            <a:r>
              <a:rPr lang="en-US" sz="2400" dirty="0"/>
              <a:t> </a:t>
            </a:r>
            <a:r>
              <a:rPr lang="en-US" sz="2400" dirty="0" err="1"/>
              <a:t>hàng</a:t>
            </a:r>
            <a:r>
              <a:rPr lang="en-US" sz="2400" dirty="0"/>
              <a:t> 1,2,…, N. </a:t>
            </a:r>
            <a:endParaRPr dirty="0"/>
          </a:p>
          <a:p>
            <a:pPr marL="228600" lvl="0" indent="-228600" algn="l" rtl="0">
              <a:lnSpc>
                <a:spcPct val="90000"/>
              </a:lnSpc>
              <a:spcBef>
                <a:spcPts val="1000"/>
              </a:spcBef>
              <a:spcAft>
                <a:spcPts val="0"/>
              </a:spcAft>
              <a:buClr>
                <a:schemeClr val="dk1"/>
              </a:buClr>
              <a:buSzPts val="2400"/>
              <a:buChar char="•"/>
            </a:pPr>
            <a:r>
              <a:rPr lang="en-US" sz="2400" dirty="0" err="1"/>
              <a:t>Khách</a:t>
            </a:r>
            <a:r>
              <a:rPr lang="en-US" sz="2400" dirty="0"/>
              <a:t> </a:t>
            </a:r>
            <a:r>
              <a:rPr lang="en-US" sz="2400" dirty="0" err="1"/>
              <a:t>hàng</a:t>
            </a:r>
            <a:r>
              <a:rPr lang="en-US" sz="2400" dirty="0"/>
              <a:t> </a:t>
            </a:r>
            <a:r>
              <a:rPr lang="en-US" sz="2400" dirty="0" err="1"/>
              <a:t>i</a:t>
            </a:r>
            <a:r>
              <a:rPr lang="en-US" sz="2400" dirty="0"/>
              <a:t> </a:t>
            </a:r>
            <a:r>
              <a:rPr lang="en-US" sz="2400" dirty="0" err="1"/>
              <a:t>nằm</a:t>
            </a:r>
            <a:r>
              <a:rPr lang="en-US" sz="2400" dirty="0"/>
              <a:t> ở </a:t>
            </a:r>
            <a:r>
              <a:rPr lang="en-US" sz="2400" dirty="0" err="1"/>
              <a:t>điểm</a:t>
            </a:r>
            <a:r>
              <a:rPr lang="en-US" sz="2400" dirty="0"/>
              <a:t> </a:t>
            </a:r>
            <a:r>
              <a:rPr lang="en-US" sz="2400" dirty="0" err="1"/>
              <a:t>i</a:t>
            </a:r>
            <a:r>
              <a:rPr lang="en-US" sz="2400" dirty="0"/>
              <a:t> </a:t>
            </a:r>
            <a:r>
              <a:rPr lang="en-US" sz="2400" dirty="0" err="1"/>
              <a:t>và</a:t>
            </a:r>
            <a:r>
              <a:rPr lang="en-US" sz="2400" dirty="0"/>
              <a:t> </a:t>
            </a:r>
            <a:r>
              <a:rPr lang="en-US" sz="2400" dirty="0" err="1"/>
              <a:t>có</a:t>
            </a:r>
            <a:r>
              <a:rPr lang="en-US" sz="2400" dirty="0"/>
              <a:t> </a:t>
            </a:r>
            <a:r>
              <a:rPr lang="en-US" sz="2400" dirty="0" err="1"/>
              <a:t>yêu</a:t>
            </a:r>
            <a:r>
              <a:rPr lang="en-US" sz="2400" dirty="0"/>
              <a:t> </a:t>
            </a:r>
            <a:r>
              <a:rPr lang="en-US" sz="2400" dirty="0" err="1"/>
              <a:t>cầu</a:t>
            </a:r>
            <a:r>
              <a:rPr lang="en-US" sz="2400" dirty="0"/>
              <a:t> </a:t>
            </a:r>
            <a:r>
              <a:rPr lang="en-US" sz="2400" dirty="0" err="1"/>
              <a:t>giao</a:t>
            </a:r>
            <a:r>
              <a:rPr lang="en-US" sz="2400" dirty="0"/>
              <a:t> </a:t>
            </a:r>
            <a:r>
              <a:rPr lang="en-US" sz="2400" dirty="0" err="1"/>
              <a:t>hàng</a:t>
            </a:r>
            <a:r>
              <a:rPr lang="en-US" sz="2400" dirty="0"/>
              <a:t> </a:t>
            </a:r>
            <a:r>
              <a:rPr lang="en-US" sz="2400" dirty="0" err="1"/>
              <a:t>trong</a:t>
            </a:r>
            <a:r>
              <a:rPr lang="en-US" sz="2400" dirty="0"/>
              <a:t> </a:t>
            </a:r>
            <a:r>
              <a:rPr lang="en-US" sz="2400" dirty="0" err="1"/>
              <a:t>khoảng</a:t>
            </a:r>
            <a:r>
              <a:rPr lang="en-US" sz="2400" dirty="0"/>
              <a:t> </a:t>
            </a:r>
            <a:r>
              <a:rPr lang="en-US" sz="2400" dirty="0" err="1"/>
              <a:t>thời</a:t>
            </a:r>
            <a:r>
              <a:rPr lang="en-US" sz="2400" dirty="0"/>
              <a:t> </a:t>
            </a:r>
            <a:r>
              <a:rPr lang="en-US" sz="2400" dirty="0" err="1"/>
              <a:t>gian</a:t>
            </a:r>
            <a:r>
              <a:rPr lang="en-US" sz="2400" dirty="0"/>
              <a:t> </a:t>
            </a:r>
            <a:r>
              <a:rPr lang="en-US" sz="2400" dirty="0" err="1"/>
              <a:t>từ</a:t>
            </a:r>
            <a:r>
              <a:rPr lang="en-US" sz="2400" dirty="0"/>
              <a:t> </a:t>
            </a:r>
            <a:r>
              <a:rPr lang="en-US" sz="2400" b="1" dirty="0"/>
              <a:t>e(</a:t>
            </a:r>
            <a:r>
              <a:rPr lang="en-US" sz="2400" b="1" dirty="0" err="1"/>
              <a:t>i</a:t>
            </a:r>
            <a:r>
              <a:rPr lang="en-US" sz="2400" b="1" dirty="0"/>
              <a:t>)</a:t>
            </a:r>
            <a:r>
              <a:rPr lang="en-US" sz="2400" dirty="0"/>
              <a:t> </a:t>
            </a:r>
            <a:r>
              <a:rPr lang="en-US" sz="2400" dirty="0" err="1"/>
              <a:t>đến</a:t>
            </a:r>
            <a:r>
              <a:rPr lang="en-US" sz="2400" dirty="0"/>
              <a:t> </a:t>
            </a:r>
            <a:r>
              <a:rPr lang="en-US" sz="2400" b="1" dirty="0"/>
              <a:t>l(</a:t>
            </a:r>
            <a:r>
              <a:rPr lang="en-US" sz="2400" b="1" dirty="0" err="1"/>
              <a:t>i</a:t>
            </a:r>
            <a:r>
              <a:rPr lang="en-US" sz="2400" b="1" dirty="0"/>
              <a:t>)</a:t>
            </a:r>
            <a:r>
              <a:rPr lang="en-US" sz="2400" dirty="0"/>
              <a:t> </a:t>
            </a:r>
            <a:r>
              <a:rPr lang="en-US" sz="2400" dirty="0" err="1"/>
              <a:t>và</a:t>
            </a:r>
            <a:r>
              <a:rPr lang="en-US" sz="2400" dirty="0"/>
              <a:t> </a:t>
            </a:r>
            <a:r>
              <a:rPr lang="en-US" sz="2400" dirty="0" err="1"/>
              <a:t>giao</a:t>
            </a:r>
            <a:r>
              <a:rPr lang="en-US" sz="2400" dirty="0"/>
              <a:t> </a:t>
            </a:r>
            <a:r>
              <a:rPr lang="en-US" sz="2400" dirty="0" err="1"/>
              <a:t>hàng</a:t>
            </a:r>
            <a:r>
              <a:rPr lang="en-US" sz="2400" dirty="0"/>
              <a:t> </a:t>
            </a:r>
            <a:r>
              <a:rPr lang="en-US" sz="2400" dirty="0" err="1"/>
              <a:t>hết</a:t>
            </a:r>
            <a:r>
              <a:rPr lang="en-US" sz="2400" dirty="0"/>
              <a:t> </a:t>
            </a:r>
            <a:r>
              <a:rPr lang="en-US" sz="2400" b="1" dirty="0"/>
              <a:t>d(</a:t>
            </a:r>
            <a:r>
              <a:rPr lang="en-US" sz="2400" b="1" dirty="0" err="1"/>
              <a:t>i</a:t>
            </a:r>
            <a:r>
              <a:rPr lang="en-US" sz="2400" b="1" dirty="0"/>
              <a:t>)</a:t>
            </a:r>
            <a:r>
              <a:rPr lang="en-US" sz="2400" dirty="0"/>
              <a:t>  </a:t>
            </a:r>
            <a:r>
              <a:rPr lang="en-US" sz="2400" dirty="0" err="1"/>
              <a:t>đơn</a:t>
            </a:r>
            <a:r>
              <a:rPr lang="en-US" sz="2400" dirty="0"/>
              <a:t> </a:t>
            </a:r>
            <a:r>
              <a:rPr lang="en-US" sz="2400" dirty="0" err="1"/>
              <a:t>vị</a:t>
            </a:r>
            <a:r>
              <a:rPr lang="en-US" sz="2400" dirty="0"/>
              <a:t> </a:t>
            </a:r>
            <a:r>
              <a:rPr lang="en-US" sz="2400" dirty="0" err="1"/>
              <a:t>thời</a:t>
            </a:r>
            <a:r>
              <a:rPr lang="en-US" sz="2400" dirty="0"/>
              <a:t> </a:t>
            </a:r>
            <a:r>
              <a:rPr lang="en-US" sz="2400" dirty="0" err="1"/>
              <a:t>gian</a:t>
            </a:r>
            <a:r>
              <a:rPr lang="en-US" sz="2400" dirty="0"/>
              <a:t> (s). </a:t>
            </a:r>
            <a:r>
              <a:rPr lang="en-US" sz="2400" dirty="0" err="1"/>
              <a:t>Biết</a:t>
            </a:r>
            <a:r>
              <a:rPr lang="en-US" sz="2400" dirty="0"/>
              <a:t> </a:t>
            </a:r>
            <a:r>
              <a:rPr lang="en-US" sz="2400" dirty="0" err="1"/>
              <a:t>rằng</a:t>
            </a:r>
            <a:r>
              <a:rPr lang="en-US" sz="2400" dirty="0"/>
              <a:t>  </a:t>
            </a:r>
            <a:r>
              <a:rPr lang="en-US" sz="2400" b="1" dirty="0"/>
              <a:t>t(</a:t>
            </a:r>
            <a:r>
              <a:rPr lang="en-US" sz="2400" b="1" dirty="0" err="1"/>
              <a:t>i,j</a:t>
            </a:r>
            <a:r>
              <a:rPr lang="en-US" sz="2400" b="1" dirty="0"/>
              <a:t>)</a:t>
            </a:r>
            <a:r>
              <a:rPr lang="en-US" sz="2400" dirty="0"/>
              <a:t> </a:t>
            </a:r>
            <a:r>
              <a:rPr lang="en-US" sz="2400" dirty="0" err="1"/>
              <a:t>là</a:t>
            </a:r>
            <a:r>
              <a:rPr lang="en-US" sz="2400" dirty="0"/>
              <a:t> </a:t>
            </a:r>
            <a:r>
              <a:rPr lang="en-US" sz="2400" dirty="0" err="1"/>
              <a:t>thời</a:t>
            </a:r>
            <a:r>
              <a:rPr lang="en-US" sz="2400" dirty="0"/>
              <a:t> </a:t>
            </a:r>
            <a:r>
              <a:rPr lang="en-US" sz="2400" dirty="0" err="1"/>
              <a:t>gian</a:t>
            </a:r>
            <a:r>
              <a:rPr lang="en-US" sz="2400" dirty="0"/>
              <a:t> di  </a:t>
            </a:r>
            <a:r>
              <a:rPr lang="en-US" sz="2400" dirty="0" err="1"/>
              <a:t>chuyển</a:t>
            </a:r>
            <a:r>
              <a:rPr lang="en-US" sz="2400" dirty="0"/>
              <a:t> </a:t>
            </a:r>
            <a:r>
              <a:rPr lang="en-US" sz="2400" dirty="0" err="1"/>
              <a:t>từ</a:t>
            </a:r>
            <a:r>
              <a:rPr lang="en-US" sz="2400" dirty="0"/>
              <a:t> </a:t>
            </a:r>
            <a:r>
              <a:rPr lang="en-US" sz="2400" dirty="0" err="1"/>
              <a:t>điểm</a:t>
            </a:r>
            <a:r>
              <a:rPr lang="en-US" sz="2400" dirty="0"/>
              <a:t> </a:t>
            </a:r>
            <a:r>
              <a:rPr lang="en-US" sz="2400" dirty="0" err="1"/>
              <a:t>i</a:t>
            </a:r>
            <a:r>
              <a:rPr lang="en-US" sz="2400" dirty="0"/>
              <a:t> </a:t>
            </a:r>
            <a:r>
              <a:rPr lang="en-US" sz="2400" dirty="0" err="1"/>
              <a:t>đến</a:t>
            </a:r>
            <a:r>
              <a:rPr lang="en-US" sz="2400" dirty="0"/>
              <a:t> </a:t>
            </a:r>
            <a:r>
              <a:rPr lang="en-US" sz="2400" dirty="0" err="1"/>
              <a:t>điểm</a:t>
            </a:r>
            <a:r>
              <a:rPr lang="en-US" sz="2400" dirty="0"/>
              <a:t> j. </a:t>
            </a:r>
            <a:endParaRPr dirty="0"/>
          </a:p>
          <a:p>
            <a:pPr marL="228600" lvl="0" indent="-228600" algn="l" rtl="0">
              <a:lnSpc>
                <a:spcPct val="90000"/>
              </a:lnSpc>
              <a:spcBef>
                <a:spcPts val="1000"/>
              </a:spcBef>
              <a:spcAft>
                <a:spcPts val="0"/>
              </a:spcAft>
              <a:buClr>
                <a:schemeClr val="dk1"/>
              </a:buClr>
              <a:buSzPts val="2400"/>
              <a:buChar char="•"/>
            </a:pP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xuất</a:t>
            </a:r>
            <a:r>
              <a:rPr lang="en-US" sz="2400" dirty="0"/>
              <a:t> </a:t>
            </a:r>
            <a:r>
              <a:rPr lang="en-US" sz="2400" dirty="0" err="1"/>
              <a:t>phát</a:t>
            </a:r>
            <a:r>
              <a:rPr lang="en-US" sz="2400" dirty="0"/>
              <a:t> </a:t>
            </a:r>
            <a:r>
              <a:rPr lang="en-US" sz="2400" dirty="0" err="1"/>
              <a:t>từ</a:t>
            </a:r>
            <a:r>
              <a:rPr lang="en-US" sz="2400" dirty="0"/>
              <a:t> </a:t>
            </a:r>
            <a:r>
              <a:rPr lang="en-US" sz="2400" dirty="0" err="1"/>
              <a:t>kho</a:t>
            </a:r>
            <a:r>
              <a:rPr lang="en-US" sz="2400" dirty="0"/>
              <a:t> </a:t>
            </a:r>
            <a:r>
              <a:rPr lang="en-US" sz="2400" dirty="0" err="1"/>
              <a:t>tại</a:t>
            </a:r>
            <a:r>
              <a:rPr lang="en-US" sz="2400" dirty="0"/>
              <a:t> </a:t>
            </a:r>
            <a:r>
              <a:rPr lang="en-US" sz="2400" dirty="0" err="1"/>
              <a:t>thời</a:t>
            </a:r>
            <a:r>
              <a:rPr lang="en-US" sz="2400" dirty="0"/>
              <a:t> </a:t>
            </a:r>
            <a:r>
              <a:rPr lang="en-US" sz="2400" dirty="0" err="1"/>
              <a:t>điểm</a:t>
            </a:r>
            <a:r>
              <a:rPr lang="en-US" sz="2400" dirty="0"/>
              <a:t> t0, </a:t>
            </a:r>
            <a:r>
              <a:rPr lang="en-US" sz="2400" dirty="0" err="1"/>
              <a:t>hãy</a:t>
            </a:r>
            <a:r>
              <a:rPr lang="en-US" sz="2400" dirty="0"/>
              <a:t> </a:t>
            </a:r>
            <a:r>
              <a:rPr lang="en-US" sz="2400" dirty="0" err="1"/>
              <a:t>tính</a:t>
            </a:r>
            <a:r>
              <a:rPr lang="en-US" sz="2400" dirty="0"/>
              <a:t> </a:t>
            </a:r>
            <a:r>
              <a:rPr lang="en-US" sz="2400" dirty="0" err="1"/>
              <a:t>toán</a:t>
            </a:r>
            <a:r>
              <a:rPr lang="en-US" sz="2400" dirty="0"/>
              <a:t> </a:t>
            </a:r>
            <a:r>
              <a:rPr lang="en-US" sz="2400" dirty="0" err="1"/>
              <a:t>lộ</a:t>
            </a:r>
            <a:r>
              <a:rPr lang="en-US" sz="2400" dirty="0"/>
              <a:t> </a:t>
            </a:r>
            <a:r>
              <a:rPr lang="en-US" sz="2400" dirty="0" err="1"/>
              <a:t>trình</a:t>
            </a:r>
            <a:r>
              <a:rPr lang="en-US" sz="2400" dirty="0"/>
              <a:t> </a:t>
            </a:r>
            <a:r>
              <a:rPr lang="en-US" sz="2400" dirty="0" err="1"/>
              <a:t>giao</a:t>
            </a:r>
            <a:r>
              <a:rPr lang="en-US" sz="2400" dirty="0"/>
              <a:t> </a:t>
            </a:r>
            <a:r>
              <a:rPr lang="en-US" sz="2400" dirty="0" err="1"/>
              <a:t>hàng</a:t>
            </a:r>
            <a:r>
              <a:rPr lang="en-US" sz="2400" dirty="0"/>
              <a:t> </a:t>
            </a:r>
            <a:r>
              <a:rPr lang="en-US" sz="2400" dirty="0" err="1"/>
              <a:t>cho</a:t>
            </a:r>
            <a:r>
              <a:rPr lang="en-US" sz="2400" dirty="0"/>
              <a:t> </a:t>
            </a:r>
            <a:r>
              <a:rPr lang="en-US" sz="2400" dirty="0" err="1"/>
              <a:t>nhân</a:t>
            </a:r>
            <a:r>
              <a:rPr lang="en-US" sz="2400" dirty="0"/>
              <a:t> </a:t>
            </a:r>
            <a:r>
              <a:rPr lang="en-US" sz="2400" dirty="0" err="1"/>
              <a:t>viên</a:t>
            </a:r>
            <a:r>
              <a:rPr lang="en-US" sz="2400" dirty="0"/>
              <a:t> </a:t>
            </a:r>
            <a:r>
              <a:rPr lang="en-US" sz="2400" dirty="0" err="1"/>
              <a:t>giao</a:t>
            </a:r>
            <a:r>
              <a:rPr lang="en-US" sz="2400" dirty="0"/>
              <a:t> </a:t>
            </a:r>
            <a:r>
              <a:rPr lang="en-US" sz="2400" dirty="0" err="1"/>
              <a:t>hàng</a:t>
            </a:r>
            <a:r>
              <a:rPr lang="en-US" sz="2400" dirty="0"/>
              <a:t> </a:t>
            </a:r>
            <a:r>
              <a:rPr lang="en-US" sz="2400" dirty="0" err="1"/>
              <a:t>sao</a:t>
            </a:r>
            <a:r>
              <a:rPr lang="en-US" sz="2400" dirty="0"/>
              <a:t> </a:t>
            </a:r>
            <a:r>
              <a:rPr lang="en-US" sz="2400" dirty="0" err="1"/>
              <a:t>cho</a:t>
            </a:r>
            <a:r>
              <a:rPr lang="en-US" sz="2400" dirty="0"/>
              <a:t> </a:t>
            </a:r>
            <a:r>
              <a:rPr lang="en-US" sz="2400" dirty="0" err="1"/>
              <a:t>tổng</a:t>
            </a:r>
            <a:r>
              <a:rPr lang="en-US" sz="2400" dirty="0"/>
              <a:t> </a:t>
            </a:r>
            <a:r>
              <a:rPr lang="en-US" sz="2400" dirty="0" err="1"/>
              <a:t>thời</a:t>
            </a:r>
            <a:r>
              <a:rPr lang="en-US" sz="2400" dirty="0"/>
              <a:t> </a:t>
            </a:r>
            <a:r>
              <a:rPr lang="en-US" sz="2400" dirty="0" err="1"/>
              <a:t>gian</a:t>
            </a:r>
            <a:r>
              <a:rPr lang="en-US" sz="2400" dirty="0"/>
              <a:t> di </a:t>
            </a:r>
            <a:r>
              <a:rPr lang="en-US" sz="2400" dirty="0" err="1"/>
              <a:t>chuyển</a:t>
            </a:r>
            <a:r>
              <a:rPr lang="en-US" sz="2400" dirty="0"/>
              <a:t> </a:t>
            </a:r>
            <a:r>
              <a:rPr lang="en-US" sz="2400" dirty="0" err="1"/>
              <a:t>là</a:t>
            </a:r>
            <a:r>
              <a:rPr lang="en-US" sz="2400" dirty="0"/>
              <a:t> </a:t>
            </a:r>
            <a:r>
              <a:rPr lang="en-US" sz="2400" dirty="0" err="1"/>
              <a:t>ngắn</a:t>
            </a:r>
            <a:r>
              <a:rPr lang="en-US" sz="2400" dirty="0"/>
              <a:t> </a:t>
            </a:r>
            <a:r>
              <a:rPr lang="en-US" sz="2400" dirty="0" err="1"/>
              <a:t>nhất</a:t>
            </a:r>
            <a:r>
              <a:rPr lang="en-US" sz="2400" dirty="0"/>
              <a:t>.</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5C7E8201-4E80-730C-DD52-8EB1B3B9B9B8}"/>
            </a:ext>
          </a:extLst>
        </p:cNvPr>
        <p:cNvGrpSpPr/>
        <p:nvPr/>
      </p:nvGrpSpPr>
      <p:grpSpPr>
        <a:xfrm>
          <a:off x="0" y="0"/>
          <a:ext cx="0" cy="0"/>
          <a:chOff x="0" y="0"/>
          <a:chExt cx="0" cy="0"/>
        </a:xfrm>
      </p:grpSpPr>
      <p:sp>
        <p:nvSpPr>
          <p:cNvPr id="70" name="Google Shape;70;g39884b74e3e_0_14">
            <a:extLst>
              <a:ext uri="{FF2B5EF4-FFF2-40B4-BE49-F238E27FC236}">
                <a16:creationId xmlns:a16="http://schemas.microsoft.com/office/drawing/2014/main" id="{B99D3C4E-4C35-1C31-B863-2017ED8C5DC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71" name="Google Shape;71;g39884b74e3e_0_14">
            <a:extLst>
              <a:ext uri="{FF2B5EF4-FFF2-40B4-BE49-F238E27FC236}">
                <a16:creationId xmlns:a16="http://schemas.microsoft.com/office/drawing/2014/main" id="{D4A25240-41AD-4024-7B40-9CB4B6241BBE}"/>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Bộ dữ liệu: Bộ dữ liệu Hustack cho bài toán TSP-TW</a:t>
            </a:r>
            <a:endParaRPr dirty="0"/>
          </a:p>
        </p:txBody>
      </p:sp>
      <p:sp>
        <p:nvSpPr>
          <p:cNvPr id="72" name="Google Shape;72;g39884b74e3e_0_14">
            <a:extLst>
              <a:ext uri="{FF2B5EF4-FFF2-40B4-BE49-F238E27FC236}">
                <a16:creationId xmlns:a16="http://schemas.microsoft.com/office/drawing/2014/main" id="{D29F490C-0246-FB3B-5ED4-AAFF2552BDA6}"/>
              </a:ext>
            </a:extLst>
          </p:cNvPr>
          <p:cNvSpPr txBox="1">
            <a:spLocks noGrp="1"/>
          </p:cNvSpPr>
          <p:nvPr>
            <p:ph type="body" idx="1"/>
          </p:nvPr>
        </p:nvSpPr>
        <p:spPr>
          <a:xfrm>
            <a:off x="235077" y="990600"/>
            <a:ext cx="8674200" cy="5154047"/>
          </a:xfrm>
          <a:prstGeom prst="rect">
            <a:avLst/>
          </a:prstGeom>
          <a:noFill/>
          <a:ln>
            <a:noFill/>
          </a:ln>
        </p:spPr>
        <p:txBody>
          <a:bodyPr spcFirstLastPara="1" wrap="square" lIns="91425" tIns="45700" rIns="91425" bIns="45700" anchor="t" anchorCtr="0">
            <a:noAutofit/>
          </a:bodyPr>
          <a:lstStyle/>
          <a:p>
            <a:pPr marL="228600" lvl="0" indent="-76200" algn="l" rtl="0">
              <a:lnSpc>
                <a:spcPct val="90000"/>
              </a:lnSpc>
              <a:spcBef>
                <a:spcPts val="0"/>
              </a:spcBef>
              <a:spcAft>
                <a:spcPts val="0"/>
              </a:spcAft>
              <a:buClr>
                <a:schemeClr val="dk1"/>
              </a:buClr>
              <a:buSzPts val="2400"/>
              <a:buNone/>
            </a:pPr>
            <a:r>
              <a:rPr lang="vi-VN" dirty="0"/>
              <a:t>Đặc điểm lời giải tối ưu:</a:t>
            </a:r>
          </a:p>
          <a:p>
            <a:pPr marL="228600" lvl="0" indent="-76200" algn="l" rtl="0">
              <a:lnSpc>
                <a:spcPct val="90000"/>
              </a:lnSpc>
              <a:spcBef>
                <a:spcPts val="0"/>
              </a:spcBef>
              <a:spcAft>
                <a:spcPts val="0"/>
              </a:spcAft>
              <a:buClr>
                <a:schemeClr val="dk1"/>
              </a:buClr>
              <a:buSzPts val="2400"/>
              <a:buNone/>
            </a:pPr>
            <a:r>
              <a:rPr lang="vi-VN" dirty="0"/>
              <a:t>Mọi lời giải tối ưu điều cho vi phạm time window = 0</a:t>
            </a:r>
          </a:p>
          <a:p>
            <a:pPr marL="609600" lvl="0" indent="-457200" algn="l" rtl="0">
              <a:lnSpc>
                <a:spcPct val="90000"/>
              </a:lnSpc>
              <a:spcBef>
                <a:spcPts val="0"/>
              </a:spcBef>
              <a:spcAft>
                <a:spcPts val="0"/>
              </a:spcAft>
              <a:buClr>
                <a:schemeClr val="dk1"/>
              </a:buClr>
              <a:buSzPts val="2400"/>
              <a:buFont typeface="Wingdings" panose="05000000000000000000" pitchFamily="2" charset="2"/>
              <a:buChar char="è"/>
            </a:pPr>
            <a:r>
              <a:rPr lang="vi-VN" dirty="0"/>
              <a:t>Có thể thấy việc tìm ra lời giải tối ưu về thời gian cũng là tìm sao cho ít vi phạm time window nhất</a:t>
            </a:r>
          </a:p>
          <a:p>
            <a:pPr marL="152400" lvl="0" indent="0" algn="l" rtl="0">
              <a:lnSpc>
                <a:spcPct val="90000"/>
              </a:lnSpc>
              <a:spcBef>
                <a:spcPts val="0"/>
              </a:spcBef>
              <a:spcAft>
                <a:spcPts val="0"/>
              </a:spcAft>
              <a:buClr>
                <a:schemeClr val="dk1"/>
              </a:buClr>
              <a:buSzPts val="2400"/>
              <a:buNone/>
            </a:pPr>
            <a:endParaRPr lang="vi-VN" dirty="0"/>
          </a:p>
        </p:txBody>
      </p:sp>
      <p:pic>
        <p:nvPicPr>
          <p:cNvPr id="3" name="Picture 2" descr="A screen shot of a computer&#10;&#10;AI-generated content may be incorrect.">
            <a:extLst>
              <a:ext uri="{FF2B5EF4-FFF2-40B4-BE49-F238E27FC236}">
                <a16:creationId xmlns:a16="http://schemas.microsoft.com/office/drawing/2014/main" id="{EB58E856-8880-3C48-C079-A68FBC08334E}"/>
              </a:ext>
            </a:extLst>
          </p:cNvPr>
          <p:cNvPicPr>
            <a:picLocks noChangeAspect="1"/>
          </p:cNvPicPr>
          <p:nvPr/>
        </p:nvPicPr>
        <p:blipFill>
          <a:blip r:embed="rId3"/>
          <a:stretch>
            <a:fillRect/>
          </a:stretch>
        </p:blipFill>
        <p:spPr>
          <a:xfrm>
            <a:off x="937748" y="2832835"/>
            <a:ext cx="6658904" cy="2476846"/>
          </a:xfrm>
          <a:prstGeom prst="rect">
            <a:avLst/>
          </a:prstGeom>
        </p:spPr>
      </p:pic>
    </p:spTree>
    <p:extLst>
      <p:ext uri="{BB962C8B-B14F-4D97-AF65-F5344CB8AC3E}">
        <p14:creationId xmlns:p14="http://schemas.microsoft.com/office/powerpoint/2010/main" val="36271517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97F36A4D-715D-1040-C1EF-30A0F27998BC}"/>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D7147498-3CD7-2DC0-D711-52B9810639B8}"/>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78" name="Google Shape;78;p4">
            <a:extLst>
              <a:ext uri="{FF2B5EF4-FFF2-40B4-BE49-F238E27FC236}">
                <a16:creationId xmlns:a16="http://schemas.microsoft.com/office/drawing/2014/main" id="{1BA501D3-283B-2F40-5160-8DA1178D279A}"/>
              </a:ext>
            </a:extLst>
          </p:cNvPr>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Các thuật toán đã áp dụng</a:t>
            </a:r>
            <a:endParaRPr dirty="0"/>
          </a:p>
        </p:txBody>
      </p:sp>
      <mc:AlternateContent xmlns:mc="http://schemas.openxmlformats.org/markup-compatibility/2006">
        <mc:Choice xmlns:a14="http://schemas.microsoft.com/office/drawing/2010/main" Requires="a14">
          <p:sp>
            <p:nvSpPr>
              <p:cNvPr id="79" name="Google Shape;79;p4">
                <a:extLst>
                  <a:ext uri="{FF2B5EF4-FFF2-40B4-BE49-F238E27FC236}">
                    <a16:creationId xmlns:a16="http://schemas.microsoft.com/office/drawing/2014/main" id="{5D7C3CBD-626C-1CBB-D261-9A5DA6F25AF4}"/>
                  </a:ext>
                </a:extLst>
              </p:cNvPr>
              <p:cNvSpPr txBox="1">
                <a:spLocks noGrp="1"/>
              </p:cNvSpPr>
              <p:nvPr>
                <p:ph type="body" idx="1"/>
              </p:nvPr>
            </p:nvSpPr>
            <p:spPr>
              <a:xfrm>
                <a:off x="365759" y="943276"/>
                <a:ext cx="8543417" cy="5201364"/>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buFont typeface="Wingdings" panose="05000000000000000000" pitchFamily="2" charset="2"/>
                  <a:buChar char="§"/>
                </a:pPr>
                <a:r>
                  <a:rPr lang="vi-VN" sz="2000" dirty="0"/>
                  <a:t>GA:</a:t>
                </a:r>
              </a:p>
              <a:p>
                <a:pPr marL="0" indent="0">
                  <a:spcBef>
                    <a:spcPts val="0"/>
                  </a:spcBef>
                  <a:buSzPts val="2400"/>
                  <a:buNone/>
                </a:pPr>
                <a:r>
                  <a:rPr lang="vi-VN" sz="1800" dirty="0"/>
                  <a:t>	Mã hóa cá thể: Chuỗi thành phố</a:t>
                </a:r>
              </a:p>
              <a:p>
                <a:pPr marL="0" indent="0">
                  <a:spcBef>
                    <a:spcPts val="0"/>
                  </a:spcBef>
                  <a:buSzPts val="2400"/>
                  <a:buNone/>
                </a:pPr>
                <a:r>
                  <a:rPr lang="vi-VN" sz="1800" dirty="0"/>
                  <a:t>	Hàm mục tiêu:</a:t>
                </a:r>
              </a:p>
              <a:p>
                <a:pPr marL="457200" lvl="1" indent="0">
                  <a:spcBef>
                    <a:spcPts val="0"/>
                  </a:spcBef>
                  <a:buNone/>
                </a:pPr>
                <a:r>
                  <a:rPr lang="vi-VN" sz="1800" i="1" dirty="0"/>
                  <a:t>	</a:t>
                </a:r>
              </a:p>
              <a:p>
                <a:pPr marL="457200" lvl="1" indent="0">
                  <a:spcBef>
                    <a:spcPts val="0"/>
                  </a:spcBef>
                  <a:buNone/>
                </a:pPr>
                <a:r>
                  <a:rPr lang="vi-VN" sz="1800" i="1" dirty="0"/>
                  <a:t>	objective = min</a:t>
                </a:r>
                <a14:m>
                  <m:oMath xmlns:m="http://schemas.openxmlformats.org/officeDocument/2006/math">
                    <m:nary>
                      <m:naryPr>
                        <m:chr m:val="∑"/>
                        <m:supHide m:val="on"/>
                        <m:ctrlPr>
                          <a:rPr lang="vi-VN" sz="1800" i="1" smtClean="0">
                            <a:latin typeface="Cambria Math" panose="02040503050406030204" pitchFamily="18" charset="0"/>
                          </a:rPr>
                        </m:ctrlPr>
                      </m:naryPr>
                      <m:sub>
                        <m:r>
                          <m:rPr>
                            <m:brk m:alnAt="7"/>
                          </m:rPr>
                          <a:rPr lang="vi-VN" sz="1800" b="0" i="1" smtClean="0">
                            <a:latin typeface="Cambria Math" panose="02040503050406030204" pitchFamily="18" charset="0"/>
                          </a:rPr>
                          <m:t>(</m:t>
                        </m:r>
                        <m:r>
                          <m:rPr>
                            <m:sty m:val="p"/>
                          </m:rPr>
                          <a:rPr lang="vi-VN" sz="1800" i="1">
                            <a:latin typeface="Cambria Math" panose="02040503050406030204" pitchFamily="18" charset="0"/>
                          </a:rPr>
                          <m:t>i</m:t>
                        </m:r>
                        <m:r>
                          <a:rPr lang="vi-VN" sz="1800" b="0" i="1" smtClean="0">
                            <a:latin typeface="Cambria Math" panose="02040503050406030204" pitchFamily="18" charset="0"/>
                          </a:rPr>
                          <m:t>,</m:t>
                        </m:r>
                        <m:r>
                          <m:rPr>
                            <m:sty m:val="p"/>
                          </m:rPr>
                          <a:rPr lang="vi-VN" sz="1800" i="1">
                            <a:latin typeface="Cambria Math" panose="02040503050406030204" pitchFamily="18" charset="0"/>
                          </a:rPr>
                          <m:t>j</m:t>
                        </m:r>
                        <m:r>
                          <a:rPr lang="vi-VN" sz="1800" b="0" i="1" smtClean="0">
                            <a:latin typeface="Cambria Math" panose="02040503050406030204" pitchFamily="18" charset="0"/>
                          </a:rPr>
                          <m:t>)</m:t>
                        </m:r>
                        <m:r>
                          <a:rPr lang="vi-VN" sz="1800" i="1" smtClean="0">
                            <a:latin typeface="Cambria Math" panose="02040503050406030204" pitchFamily="18" charset="0"/>
                            <a:ea typeface="Cambria Math" panose="02040503050406030204" pitchFamily="18" charset="0"/>
                          </a:rPr>
                          <m:t>∈</m:t>
                        </m:r>
                        <m:r>
                          <m:rPr>
                            <m:sty m:val="p"/>
                          </m:rPr>
                          <a:rPr lang="vi-VN" sz="1800" i="1">
                            <a:latin typeface="Cambria Math" panose="02040503050406030204" pitchFamily="18" charset="0"/>
                            <a:ea typeface="Cambria Math" panose="02040503050406030204" pitchFamily="18" charset="0"/>
                          </a:rPr>
                          <m:t>R</m:t>
                        </m:r>
                        <m:r>
                          <a:rPr lang="vi-VN" sz="1800" b="0" i="1" smtClean="0">
                            <a:latin typeface="Cambria Math" panose="02040503050406030204" pitchFamily="18" charset="0"/>
                          </a:rPr>
                          <m:t> </m:t>
                        </m:r>
                      </m:sub>
                      <m:sup/>
                      <m:e>
                        <m:r>
                          <a:rPr lang="vi-VN" sz="1800" b="0" i="1" smtClean="0">
                            <a:latin typeface="Cambria Math" panose="02040503050406030204" pitchFamily="18" charset="0"/>
                          </a:rPr>
                          <m:t>(</m:t>
                        </m:r>
                        <m:r>
                          <m:rPr>
                            <m:sty m:val="p"/>
                          </m:rPr>
                          <a:rPr lang="vi-VN" sz="1800" i="1">
                            <a:latin typeface="Cambria Math" panose="02040503050406030204" pitchFamily="18" charset="0"/>
                          </a:rPr>
                          <m:t>t</m:t>
                        </m:r>
                        <m:d>
                          <m:dPr>
                            <m:begChr m:val="["/>
                            <m:endChr m:val="]"/>
                            <m:ctrlPr>
                              <a:rPr lang="vi-VN" sz="1800" b="0" i="1" smtClean="0">
                                <a:latin typeface="Cambria Math" panose="02040503050406030204" pitchFamily="18" charset="0"/>
                              </a:rPr>
                            </m:ctrlPr>
                          </m:dPr>
                          <m:e>
                            <m:r>
                              <m:rPr>
                                <m:sty m:val="p"/>
                              </m:rPr>
                              <a:rPr lang="vi-VN" sz="1800" i="1">
                                <a:latin typeface="Cambria Math" panose="02040503050406030204" pitchFamily="18" charset="0"/>
                              </a:rPr>
                              <m:t>i</m:t>
                            </m:r>
                            <m:r>
                              <a:rPr lang="vi-VN" sz="1800" b="0" i="1" smtClean="0">
                                <a:latin typeface="Cambria Math" panose="02040503050406030204" pitchFamily="18" charset="0"/>
                              </a:rPr>
                              <m:t>,</m:t>
                            </m:r>
                            <m:r>
                              <m:rPr>
                                <m:sty m:val="p"/>
                              </m:rPr>
                              <a:rPr lang="vi-VN" sz="1800" i="1">
                                <a:latin typeface="Cambria Math" panose="02040503050406030204" pitchFamily="18" charset="0"/>
                              </a:rPr>
                              <m:t>j</m:t>
                            </m:r>
                          </m:e>
                        </m:d>
                        <m:r>
                          <a:rPr lang="vi-VN" sz="1800" b="0" i="1" smtClean="0">
                            <a:latin typeface="Cambria Math" panose="02040503050406030204" pitchFamily="18" charset="0"/>
                          </a:rPr>
                          <m:t>+</m:t>
                        </m:r>
                        <m:r>
                          <m:rPr>
                            <m:sty m:val="p"/>
                          </m:rPr>
                          <a:rPr lang="vi-VN" sz="1800" i="1">
                            <a:latin typeface="Cambria Math" panose="02040503050406030204" pitchFamily="18" charset="0"/>
                          </a:rPr>
                          <m:t>wait</m:t>
                        </m:r>
                        <m:d>
                          <m:dPr>
                            <m:begChr m:val="["/>
                            <m:endChr m:val="]"/>
                            <m:ctrlPr>
                              <a:rPr lang="vi-VN" sz="1800" b="0" i="1" smtClean="0">
                                <a:latin typeface="Cambria Math" panose="02040503050406030204" pitchFamily="18" charset="0"/>
                              </a:rPr>
                            </m:ctrlPr>
                          </m:dPr>
                          <m:e>
                            <m:r>
                              <m:rPr>
                                <m:sty m:val="p"/>
                              </m:rPr>
                              <a:rPr lang="vi-VN" sz="1800" i="1">
                                <a:latin typeface="Cambria Math" panose="02040503050406030204" pitchFamily="18" charset="0"/>
                              </a:rPr>
                              <m:t>j</m:t>
                            </m:r>
                          </m:e>
                        </m:d>
                        <m:r>
                          <a:rPr lang="vi-VN" sz="1800" b="0" i="1" smtClean="0">
                            <a:latin typeface="Cambria Math" panose="02040503050406030204" pitchFamily="18" charset="0"/>
                          </a:rPr>
                          <m:t>∗ </m:t>
                        </m:r>
                        <m:r>
                          <m:rPr>
                            <m:sty m:val="p"/>
                          </m:rPr>
                          <a:rPr lang="vi-VN" sz="1800" i="1">
                            <a:latin typeface="Cambria Math" panose="02040503050406030204" pitchFamily="18" charset="0"/>
                          </a:rPr>
                          <m:t>wpenalty</m:t>
                        </m:r>
                        <m:r>
                          <a:rPr lang="vi-VN" sz="1800" b="0" i="1" smtClean="0">
                            <a:latin typeface="Cambria Math" panose="02040503050406030204" pitchFamily="18" charset="0"/>
                          </a:rPr>
                          <m:t>+</m:t>
                        </m:r>
                        <m:r>
                          <m:rPr>
                            <m:sty m:val="p"/>
                          </m:rPr>
                          <a:rPr lang="vi-VN" sz="1800" i="1">
                            <a:latin typeface="Cambria Math" panose="02040503050406030204" pitchFamily="18" charset="0"/>
                          </a:rPr>
                          <m:t>late</m:t>
                        </m:r>
                        <m:d>
                          <m:dPr>
                            <m:begChr m:val="["/>
                            <m:endChr m:val="]"/>
                            <m:ctrlPr>
                              <a:rPr lang="vi-VN" sz="1800" b="0" i="1" smtClean="0">
                                <a:latin typeface="Cambria Math" panose="02040503050406030204" pitchFamily="18" charset="0"/>
                              </a:rPr>
                            </m:ctrlPr>
                          </m:dPr>
                          <m:e>
                            <m:r>
                              <m:rPr>
                                <m:sty m:val="p"/>
                              </m:rPr>
                              <a:rPr lang="vi-VN" sz="1800" i="1">
                                <a:latin typeface="Cambria Math" panose="02040503050406030204" pitchFamily="18" charset="0"/>
                              </a:rPr>
                              <m:t>j</m:t>
                            </m:r>
                          </m:e>
                        </m:d>
                        <m:r>
                          <a:rPr lang="vi-VN" sz="1800" b="0" i="1" smtClean="0">
                            <a:latin typeface="Cambria Math" panose="02040503050406030204" pitchFamily="18" charset="0"/>
                          </a:rPr>
                          <m:t>∗</m:t>
                        </m:r>
                        <m:r>
                          <m:rPr>
                            <m:sty m:val="p"/>
                          </m:rPr>
                          <a:rPr lang="vi-VN" sz="1800" i="1">
                            <a:latin typeface="Cambria Math" panose="02040503050406030204" pitchFamily="18" charset="0"/>
                          </a:rPr>
                          <m:t>lpenalty</m:t>
                        </m:r>
                        <m:r>
                          <a:rPr lang="vi-VN" sz="1800" b="0" i="1" smtClean="0">
                            <a:latin typeface="Cambria Math" panose="02040503050406030204" pitchFamily="18" charset="0"/>
                          </a:rPr>
                          <m:t>)</m:t>
                        </m:r>
                      </m:e>
                    </m:nary>
                  </m:oMath>
                </a14:m>
                <a:endParaRPr lang="vi-VN" sz="1800" i="1" dirty="0"/>
              </a:p>
              <a:p>
                <a:pPr marL="457200" lvl="1" indent="0">
                  <a:spcBef>
                    <a:spcPts val="0"/>
                  </a:spcBef>
                  <a:buNone/>
                </a:pPr>
                <a:r>
                  <a:rPr lang="vi-VN" sz="1600" i="1" dirty="0"/>
                  <a:t>		</a:t>
                </a:r>
                <a:endParaRPr lang="vi-VN" sz="1400" i="1" dirty="0"/>
              </a:p>
              <a:p>
                <a:pPr marL="914400" lvl="2" indent="0">
                  <a:spcBef>
                    <a:spcPts val="0"/>
                  </a:spcBef>
                  <a:buNone/>
                </a:pPr>
                <a:r>
                  <a:rPr lang="vi-VN" sz="1400" i="1" dirty="0"/>
                  <a:t>	</a:t>
                </a:r>
                <a:r>
                  <a:rPr lang="vi-VN" sz="1600" i="1" dirty="0"/>
                  <a:t>Trong đó (i,j) là một đường đi trên lộ trình R</a:t>
                </a:r>
              </a:p>
              <a:p>
                <a:pPr marL="914400" lvl="2" indent="0">
                  <a:spcBef>
                    <a:spcPts val="0"/>
                  </a:spcBef>
                  <a:buNone/>
                </a:pPr>
                <a:r>
                  <a:rPr lang="vi-VN" sz="1600" i="1" dirty="0"/>
                  <a:t>	t[i,j] là thời gian di chuyển từ i đến j</a:t>
                </a:r>
              </a:p>
              <a:p>
                <a:pPr marL="914400" lvl="2" indent="0">
                  <a:spcBef>
                    <a:spcPts val="0"/>
                  </a:spcBef>
                  <a:buNone/>
                </a:pPr>
                <a:r>
                  <a:rPr lang="vi-VN" sz="1600" i="1" dirty="0"/>
                  <a:t>	wait[j] là lượng thời gian chờ khi đến j, wait[j] = max(0.0, earliest[j] – arrival[j])</a:t>
                </a:r>
              </a:p>
              <a:p>
                <a:pPr marL="914400" lvl="2" indent="0">
                  <a:spcBef>
                    <a:spcPts val="0"/>
                  </a:spcBef>
                  <a:buNone/>
                </a:pPr>
                <a:r>
                  <a:rPr lang="vi-VN" sz="1600" i="1" dirty="0"/>
                  <a:t>	late[j] là lượng thời gian trễ khi đến j, late[j] = max(0.0, arrival[j]-latest[j])</a:t>
                </a:r>
              </a:p>
              <a:p>
                <a:pPr marL="914400" lvl="2" indent="0">
                  <a:spcBef>
                    <a:spcPts val="0"/>
                  </a:spcBef>
                  <a:buNone/>
                </a:pPr>
                <a:r>
                  <a:rPr lang="vi-VN" sz="1600" i="1" dirty="0"/>
                  <a:t>	wpenalty, lpenalty: hệ số phạt </a:t>
                </a:r>
              </a:p>
              <a:p>
                <a:pPr marL="342900" indent="-342900">
                  <a:spcBef>
                    <a:spcPts val="0"/>
                  </a:spcBef>
                  <a:buSzPts val="2400"/>
                  <a:buFont typeface="Wingdings" panose="05000000000000000000" pitchFamily="2" charset="2"/>
                  <a:buChar char="§"/>
                </a:pPr>
                <a:endParaRPr lang="vi-VN" sz="2000" dirty="0"/>
              </a:p>
              <a:p>
                <a:pPr marL="342900" indent="-342900">
                  <a:spcBef>
                    <a:spcPts val="0"/>
                  </a:spcBef>
                  <a:buSzPts val="2400"/>
                  <a:buFont typeface="Wingdings" panose="05000000000000000000" pitchFamily="2" charset="2"/>
                  <a:buChar char="§"/>
                </a:pPr>
                <a:r>
                  <a:rPr lang="vi-VN" sz="2000" dirty="0"/>
                  <a:t>GA-Multi objective optimization</a:t>
                </a:r>
              </a:p>
              <a:p>
                <a:pPr marL="0" indent="0">
                  <a:spcBef>
                    <a:spcPts val="0"/>
                  </a:spcBef>
                  <a:buSzPts val="2400"/>
                  <a:buNone/>
                </a:pPr>
                <a:r>
                  <a:rPr lang="vi-VN" sz="1800" dirty="0"/>
                  <a:t>	Mã hóa cá thể: Chuỗi thành phố</a:t>
                </a:r>
              </a:p>
              <a:p>
                <a:pPr marL="0" indent="0">
                  <a:spcBef>
                    <a:spcPts val="0"/>
                  </a:spcBef>
                  <a:buSzPts val="2400"/>
                  <a:buNone/>
                </a:pPr>
                <a:r>
                  <a:rPr lang="vi-VN" sz="1800" dirty="0"/>
                  <a:t>	Hàm mục tiêu:</a:t>
                </a:r>
              </a:p>
              <a:p>
                <a:pPr marL="0" indent="0">
                  <a:spcBef>
                    <a:spcPts val="0"/>
                  </a:spcBef>
                  <a:buSzPts val="2400"/>
                  <a:buNone/>
                </a:pPr>
                <a:r>
                  <a:rPr lang="vi-VN" sz="1600" dirty="0"/>
                  <a:t>	</a:t>
                </a:r>
              </a:p>
              <a:p>
                <a:pPr marL="0" indent="0">
                  <a:spcBef>
                    <a:spcPts val="0"/>
                  </a:spcBef>
                  <a:buSzPts val="2400"/>
                  <a:buNone/>
                </a:pPr>
                <a:r>
                  <a:rPr lang="vi-VN" sz="1600" i="1" dirty="0"/>
                  <a:t>	objective1 = min</a:t>
                </a:r>
                <a14:m>
                  <m:oMath xmlns:m="http://schemas.openxmlformats.org/officeDocument/2006/math">
                    <m:nary>
                      <m:naryPr>
                        <m:chr m:val="∑"/>
                        <m:supHide m:val="on"/>
                        <m:ctrlPr>
                          <a:rPr lang="vi-VN" sz="1600" i="1">
                            <a:latin typeface="Cambria Math" panose="02040503050406030204" pitchFamily="18" charset="0"/>
                          </a:rPr>
                        </m:ctrlPr>
                      </m:naryPr>
                      <m:sub>
                        <m:r>
                          <m:rPr>
                            <m:brk m:alnAt="7"/>
                          </m:rP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R</m:t>
                        </m:r>
                        <m:r>
                          <a:rPr lang="vi-VN" sz="1600" i="1">
                            <a:latin typeface="Cambria Math" panose="02040503050406030204" pitchFamily="18" charset="0"/>
                          </a:rPr>
                          <m:t> </m:t>
                        </m:r>
                      </m:sub>
                      <m:sup/>
                      <m:e>
                        <m:r>
                          <a:rPr lang="vi-VN" sz="1600" i="1">
                            <a:latin typeface="Cambria Math" panose="02040503050406030204" pitchFamily="18" charset="0"/>
                          </a:rPr>
                          <m:t>(</m:t>
                        </m:r>
                        <m:r>
                          <m:rPr>
                            <m:sty m:val="p"/>
                          </m:rPr>
                          <a:rPr lang="vi-VN" sz="1600" i="1">
                            <a:latin typeface="Cambria Math" panose="02040503050406030204" pitchFamily="18" charset="0"/>
                          </a:rPr>
                          <m:t>t</m:t>
                        </m:r>
                        <m: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smtClean="0">
                            <a:latin typeface="Cambria Math" panose="02040503050406030204" pitchFamily="18" charset="0"/>
                          </a:rPr>
                          <m:t>j</m:t>
                        </m:r>
                        <m:r>
                          <a:rPr lang="vi-VN" sz="1600" b="0" i="1" smtClean="0">
                            <a:latin typeface="Cambria Math" panose="02040503050406030204" pitchFamily="18" charset="0"/>
                          </a:rPr>
                          <m:t>]</m:t>
                        </m:r>
                        <m:r>
                          <a:rPr lang="vi-VN" sz="1600" i="1">
                            <a:latin typeface="Cambria Math" panose="02040503050406030204" pitchFamily="18" charset="0"/>
                          </a:rPr>
                          <m:t>)</m:t>
                        </m:r>
                      </m:e>
                    </m:nary>
                  </m:oMath>
                </a14:m>
                <a:endParaRPr lang="vi-VN" sz="1600" i="1" dirty="0"/>
              </a:p>
              <a:p>
                <a:pPr marL="0" indent="0">
                  <a:spcBef>
                    <a:spcPts val="0"/>
                  </a:spcBef>
                  <a:buSzPts val="2400"/>
                  <a:buNone/>
                </a:pPr>
                <a:r>
                  <a:rPr lang="vi-VN" sz="1600" dirty="0"/>
                  <a:t>	</a:t>
                </a:r>
              </a:p>
              <a:p>
                <a:pPr marL="0" indent="0">
                  <a:spcBef>
                    <a:spcPts val="0"/>
                  </a:spcBef>
                  <a:buSzPts val="2400"/>
                  <a:buNone/>
                </a:pPr>
                <a:r>
                  <a:rPr lang="vi-VN" sz="1600" i="1" dirty="0"/>
                  <a:t>	objective2 =</a:t>
                </a:r>
                <a:r>
                  <a:rPr lang="vi-VN" sz="1600" dirty="0"/>
                  <a:t> </a:t>
                </a:r>
                <a:r>
                  <a:rPr lang="vi-VN" sz="1800" i="1" dirty="0"/>
                  <a:t>min</a:t>
                </a:r>
                <a14:m>
                  <m:oMath xmlns:m="http://schemas.openxmlformats.org/officeDocument/2006/math">
                    <m:nary>
                      <m:naryPr>
                        <m:chr m:val="∑"/>
                        <m:supHide m:val="on"/>
                        <m:ctrlPr>
                          <a:rPr lang="vi-VN" sz="1800" i="1">
                            <a:latin typeface="Cambria Math" panose="02040503050406030204" pitchFamily="18" charset="0"/>
                          </a:rPr>
                        </m:ctrlPr>
                      </m:naryPr>
                      <m:sub>
                        <m:r>
                          <m:rPr>
                            <m:brk m:alnAt="7"/>
                          </m:rPr>
                          <a:rPr lang="vi-VN" sz="1800" i="1">
                            <a:latin typeface="Cambria Math" panose="02040503050406030204" pitchFamily="18" charset="0"/>
                          </a:rPr>
                          <m:t>(</m:t>
                        </m:r>
                        <m:r>
                          <m:rPr>
                            <m:sty m:val="p"/>
                          </m:rPr>
                          <a:rPr lang="vi-VN" sz="1800" i="1">
                            <a:latin typeface="Cambria Math" panose="02040503050406030204" pitchFamily="18" charset="0"/>
                          </a:rPr>
                          <m:t>i</m:t>
                        </m:r>
                        <m:r>
                          <a:rPr lang="vi-VN" sz="1800" i="1">
                            <a:latin typeface="Cambria Math" panose="02040503050406030204" pitchFamily="18" charset="0"/>
                          </a:rPr>
                          <m:t>,</m:t>
                        </m:r>
                        <m:r>
                          <m:rPr>
                            <m:sty m:val="p"/>
                          </m:rPr>
                          <a:rPr lang="vi-VN" sz="1800" i="1">
                            <a:latin typeface="Cambria Math" panose="02040503050406030204" pitchFamily="18" charset="0"/>
                          </a:rPr>
                          <m:t>j</m:t>
                        </m:r>
                        <m:r>
                          <a:rPr lang="vi-VN" sz="1800" i="1">
                            <a:latin typeface="Cambria Math" panose="02040503050406030204" pitchFamily="18" charset="0"/>
                          </a:rPr>
                          <m:t>)∈</m:t>
                        </m:r>
                        <m:r>
                          <m:rPr>
                            <m:sty m:val="p"/>
                          </m:rPr>
                          <a:rPr lang="vi-VN" sz="1800" i="1">
                            <a:latin typeface="Cambria Math" panose="02040503050406030204" pitchFamily="18" charset="0"/>
                            <a:ea typeface="Cambria Math" panose="02040503050406030204" pitchFamily="18" charset="0"/>
                          </a:rPr>
                          <m:t>R</m:t>
                        </m:r>
                        <m:r>
                          <a:rPr lang="vi-VN" sz="1800" i="1">
                            <a:latin typeface="Cambria Math" panose="02040503050406030204" pitchFamily="18" charset="0"/>
                          </a:rPr>
                          <m:t> </m:t>
                        </m:r>
                      </m:sub>
                      <m:sup/>
                      <m:e>
                        <m:r>
                          <a:rPr lang="vi-VN" sz="1800" i="1">
                            <a:latin typeface="Cambria Math" panose="02040503050406030204" pitchFamily="18" charset="0"/>
                          </a:rPr>
                          <m:t>(</m:t>
                        </m:r>
                        <m:r>
                          <m:rPr>
                            <m:sty m:val="p"/>
                          </m:rPr>
                          <a:rPr lang="vi-VN" sz="1800" i="1">
                            <a:latin typeface="Cambria Math" panose="02040503050406030204" pitchFamily="18" charset="0"/>
                          </a:rPr>
                          <m:t>wait</m:t>
                        </m:r>
                        <m:d>
                          <m:dPr>
                            <m:begChr m:val="["/>
                            <m:endChr m:val="]"/>
                            <m:ctrlPr>
                              <a:rPr lang="vi-VN" sz="1800" i="1">
                                <a:latin typeface="Cambria Math" panose="02040503050406030204" pitchFamily="18" charset="0"/>
                              </a:rPr>
                            </m:ctrlPr>
                          </m:dPr>
                          <m:e>
                            <m:r>
                              <m:rPr>
                                <m:sty m:val="p"/>
                              </m:rPr>
                              <a:rPr lang="vi-VN" sz="1800" i="1">
                                <a:latin typeface="Cambria Math" panose="02040503050406030204" pitchFamily="18" charset="0"/>
                              </a:rPr>
                              <m:t>j</m:t>
                            </m:r>
                          </m:e>
                        </m:d>
                        <m:r>
                          <a:rPr lang="vi-VN" sz="1800" i="1">
                            <a:latin typeface="Cambria Math" panose="02040503050406030204" pitchFamily="18" charset="0"/>
                          </a:rPr>
                          <m:t>∗ </m:t>
                        </m:r>
                        <m:r>
                          <m:rPr>
                            <m:sty m:val="p"/>
                          </m:rPr>
                          <a:rPr lang="vi-VN" sz="1800" i="1">
                            <a:latin typeface="Cambria Math" panose="02040503050406030204" pitchFamily="18" charset="0"/>
                          </a:rPr>
                          <m:t>wpenalty</m:t>
                        </m:r>
                        <m:r>
                          <a:rPr lang="vi-VN" sz="1800" i="1">
                            <a:latin typeface="Cambria Math" panose="02040503050406030204" pitchFamily="18" charset="0"/>
                          </a:rPr>
                          <m:t>+</m:t>
                        </m:r>
                        <m:r>
                          <m:rPr>
                            <m:sty m:val="p"/>
                          </m:rPr>
                          <a:rPr lang="vi-VN" sz="1800" i="1">
                            <a:latin typeface="Cambria Math" panose="02040503050406030204" pitchFamily="18" charset="0"/>
                          </a:rPr>
                          <m:t>late</m:t>
                        </m:r>
                        <m:d>
                          <m:dPr>
                            <m:begChr m:val="["/>
                            <m:endChr m:val="]"/>
                            <m:ctrlPr>
                              <a:rPr lang="vi-VN" sz="1800" i="1">
                                <a:latin typeface="Cambria Math" panose="02040503050406030204" pitchFamily="18" charset="0"/>
                              </a:rPr>
                            </m:ctrlPr>
                          </m:dPr>
                          <m:e>
                            <m:r>
                              <m:rPr>
                                <m:sty m:val="p"/>
                              </m:rPr>
                              <a:rPr lang="vi-VN" sz="1800" i="1">
                                <a:latin typeface="Cambria Math" panose="02040503050406030204" pitchFamily="18" charset="0"/>
                              </a:rPr>
                              <m:t>j</m:t>
                            </m:r>
                          </m:e>
                        </m:d>
                        <m:r>
                          <a:rPr lang="vi-VN" sz="1800" i="1">
                            <a:latin typeface="Cambria Math" panose="02040503050406030204" pitchFamily="18" charset="0"/>
                          </a:rPr>
                          <m:t>∗</m:t>
                        </m:r>
                        <m:r>
                          <m:rPr>
                            <m:sty m:val="p"/>
                          </m:rPr>
                          <a:rPr lang="vi-VN" sz="1800" i="1">
                            <a:latin typeface="Cambria Math" panose="02040503050406030204" pitchFamily="18" charset="0"/>
                          </a:rPr>
                          <m:t>lpenalty</m:t>
                        </m:r>
                        <m:r>
                          <a:rPr lang="vi-VN" sz="1800" b="0" i="1" smtClean="0">
                            <a:latin typeface="Cambria Math" panose="02040503050406030204" pitchFamily="18" charset="0"/>
                          </a:rPr>
                          <m:t>)</m:t>
                        </m:r>
                      </m:e>
                    </m:nary>
                  </m:oMath>
                </a14:m>
                <a:endParaRPr lang="vi-VN" sz="1800" i="1" dirty="0"/>
              </a:p>
            </p:txBody>
          </p:sp>
        </mc:Choice>
        <mc:Fallback>
          <p:sp>
            <p:nvSpPr>
              <p:cNvPr id="79" name="Google Shape;79;p4">
                <a:extLst>
                  <a:ext uri="{FF2B5EF4-FFF2-40B4-BE49-F238E27FC236}">
                    <a16:creationId xmlns:a16="http://schemas.microsoft.com/office/drawing/2014/main" id="{5D7C3CBD-626C-1CBB-D261-9A5DA6F25AF4}"/>
                  </a:ext>
                </a:extLst>
              </p:cNvPr>
              <p:cNvSpPr txBox="1">
                <a:spLocks noGrp="1" noRot="1" noChangeAspect="1" noMove="1" noResize="1" noEditPoints="1" noAdjustHandles="1" noChangeArrowheads="1" noChangeShapeType="1" noTextEdit="1"/>
              </p:cNvSpPr>
              <p:nvPr>
                <p:ph type="body" idx="1"/>
              </p:nvPr>
            </p:nvSpPr>
            <p:spPr>
              <a:xfrm>
                <a:off x="365759" y="943276"/>
                <a:ext cx="8543417" cy="5201364"/>
              </a:xfrm>
              <a:prstGeom prst="rect">
                <a:avLst/>
              </a:prstGeom>
              <a:blipFill>
                <a:blip r:embed="rId3"/>
                <a:stretch>
                  <a:fillRect l="-999" t="-1876" b="-773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907278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1E36D22B-A228-25B2-1688-DA081DEE1B1C}"/>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3BF8E7F4-56A6-8175-3D3E-EA7B9F133D85}"/>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sp>
        <p:nvSpPr>
          <p:cNvPr id="78" name="Google Shape;78;p4">
            <a:extLst>
              <a:ext uri="{FF2B5EF4-FFF2-40B4-BE49-F238E27FC236}">
                <a16:creationId xmlns:a16="http://schemas.microsoft.com/office/drawing/2014/main" id="{0C9DDDD4-8E1A-8F6D-7FFE-6510AA62994F}"/>
              </a:ext>
            </a:extLst>
          </p:cNvPr>
          <p:cNvSpPr txBox="1">
            <a:spLocks noGrp="1"/>
          </p:cNvSpPr>
          <p:nvPr>
            <p:ph type="title"/>
          </p:nvPr>
        </p:nvSpPr>
        <p:spPr>
          <a:xfrm>
            <a:off x="235077" y="78613"/>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Các thuật toán đã áp dụng</a:t>
            </a:r>
            <a:endParaRPr dirty="0"/>
          </a:p>
        </p:txBody>
      </p:sp>
      <mc:AlternateContent xmlns:mc="http://schemas.openxmlformats.org/markup-compatibility/2006">
        <mc:Choice xmlns:a14="http://schemas.microsoft.com/office/drawing/2010/main" Requires="a14">
          <p:sp>
            <p:nvSpPr>
              <p:cNvPr id="79" name="Google Shape;79;p4">
                <a:extLst>
                  <a:ext uri="{FF2B5EF4-FFF2-40B4-BE49-F238E27FC236}">
                    <a16:creationId xmlns:a16="http://schemas.microsoft.com/office/drawing/2014/main" id="{7F893F9D-4F63-F137-EB63-EA0CCC38C342}"/>
                  </a:ext>
                </a:extLst>
              </p:cNvPr>
              <p:cNvSpPr txBox="1">
                <a:spLocks noGrp="1"/>
              </p:cNvSpPr>
              <p:nvPr>
                <p:ph type="body" idx="1"/>
              </p:nvPr>
            </p:nvSpPr>
            <p:spPr>
              <a:xfrm>
                <a:off x="365759" y="943276"/>
                <a:ext cx="8543417" cy="5201364"/>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buFont typeface="Wingdings" panose="05000000000000000000" pitchFamily="2" charset="2"/>
                  <a:buChar char="§"/>
                </a:pPr>
                <a:r>
                  <a:rPr lang="vi-VN" sz="2000" dirty="0"/>
                  <a:t>GP:</a:t>
                </a:r>
              </a:p>
              <a:p>
                <a:pPr marL="914400" lvl="2" indent="0">
                  <a:spcBef>
                    <a:spcPts val="0"/>
                  </a:spcBef>
                  <a:buNone/>
                </a:pPr>
                <a:r>
                  <a:rPr lang="vi-VN" sz="1800" dirty="0"/>
                  <a:t>Mã hóa cá thể: Sự kết hợp của các luật (mỗi luật đánh giá khả độ ưu tiên cho từng request để phục vụ)</a:t>
                </a:r>
              </a:p>
              <a:p>
                <a:pPr marL="457200" lvl="1" indent="0">
                  <a:spcBef>
                    <a:spcPts val="0"/>
                  </a:spcBef>
                  <a:buNone/>
                </a:pPr>
                <a:r>
                  <a:rPr lang="vi-VN" sz="1600" dirty="0"/>
                  <a:t>	Hàm mục tiêu:</a:t>
                </a:r>
              </a:p>
              <a:p>
                <a:pPr marL="457200" lvl="1" indent="0">
                  <a:spcBef>
                    <a:spcPts val="0"/>
                  </a:spcBef>
                  <a:buNone/>
                </a:pPr>
                <a:r>
                  <a:rPr lang="vi-VN" sz="1600" i="1" dirty="0"/>
                  <a:t>		 objective = min</a:t>
                </a:r>
                <a14:m>
                  <m:oMath xmlns:m="http://schemas.openxmlformats.org/officeDocument/2006/math">
                    <m:nary>
                      <m:naryPr>
                        <m:chr m:val="∑"/>
                        <m:supHide m:val="on"/>
                        <m:ctrlPr>
                          <a:rPr lang="vi-VN" sz="1600" i="1">
                            <a:latin typeface="Cambria Math" panose="02040503050406030204" pitchFamily="18" charset="0"/>
                          </a:rPr>
                        </m:ctrlPr>
                      </m:naryPr>
                      <m:sub>
                        <m:r>
                          <m:rPr>
                            <m:brk m:alnAt="7"/>
                          </m:rP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r>
                          <a:rPr lang="vi-VN" sz="1600" i="1">
                            <a:latin typeface="Cambria Math" panose="02040503050406030204" pitchFamily="18" charset="0"/>
                            <a:ea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R</m:t>
                        </m:r>
                        <m:r>
                          <a:rPr lang="vi-VN" sz="1600" i="1">
                            <a:latin typeface="Cambria Math" panose="02040503050406030204" pitchFamily="18" charset="0"/>
                          </a:rPr>
                          <m:t> </m:t>
                        </m:r>
                      </m:sub>
                      <m:sup/>
                      <m:e>
                        <m:r>
                          <a:rPr lang="vi-VN" sz="1600" i="1">
                            <a:latin typeface="Cambria Math" panose="02040503050406030204" pitchFamily="18" charset="0"/>
                          </a:rPr>
                          <m:t>(</m:t>
                        </m:r>
                        <m:r>
                          <m:rPr>
                            <m:sty m:val="p"/>
                          </m:rPr>
                          <a:rPr lang="vi-VN" sz="1600" i="1">
                            <a:latin typeface="Cambria Math" panose="02040503050406030204" pitchFamily="18" charset="0"/>
                          </a:rPr>
                          <m:t>t</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e>
                        </m:d>
                        <m:r>
                          <a:rPr lang="vi-VN" sz="1600" i="1">
                            <a:latin typeface="Cambria Math" panose="02040503050406030204" pitchFamily="18" charset="0"/>
                          </a:rPr>
                          <m:t>+</m:t>
                        </m:r>
                        <m:r>
                          <m:rPr>
                            <m:sty m:val="p"/>
                          </m:rPr>
                          <a:rPr lang="vi-VN" sz="1600" i="1">
                            <a:latin typeface="Cambria Math" panose="02040503050406030204" pitchFamily="18" charset="0"/>
                          </a:rPr>
                          <m:t>wait</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j</m:t>
                            </m:r>
                          </m:e>
                        </m:d>
                        <m:r>
                          <a:rPr lang="vi-VN" sz="1600" i="1">
                            <a:latin typeface="Cambria Math" panose="02040503050406030204" pitchFamily="18" charset="0"/>
                          </a:rPr>
                          <m:t>∗ </m:t>
                        </m:r>
                        <m:r>
                          <m:rPr>
                            <m:sty m:val="p"/>
                          </m:rPr>
                          <a:rPr lang="vi-VN" sz="1600" i="1">
                            <a:latin typeface="Cambria Math" panose="02040503050406030204" pitchFamily="18" charset="0"/>
                          </a:rPr>
                          <m:t>wpenalty</m:t>
                        </m:r>
                        <m:r>
                          <a:rPr lang="vi-VN" sz="1600" i="1">
                            <a:latin typeface="Cambria Math" panose="02040503050406030204" pitchFamily="18" charset="0"/>
                          </a:rPr>
                          <m:t>+</m:t>
                        </m:r>
                        <m:r>
                          <m:rPr>
                            <m:sty m:val="p"/>
                          </m:rPr>
                          <a:rPr lang="vi-VN" sz="1600" i="1">
                            <a:latin typeface="Cambria Math" panose="02040503050406030204" pitchFamily="18" charset="0"/>
                          </a:rPr>
                          <m:t>late</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j</m:t>
                            </m:r>
                          </m:e>
                        </m:d>
                        <m:r>
                          <a:rPr lang="vi-VN" sz="1600" i="1">
                            <a:latin typeface="Cambria Math" panose="02040503050406030204" pitchFamily="18" charset="0"/>
                          </a:rPr>
                          <m:t>∗</m:t>
                        </m:r>
                        <m:r>
                          <m:rPr>
                            <m:sty m:val="p"/>
                          </m:rPr>
                          <a:rPr lang="vi-VN" sz="1600" i="1">
                            <a:latin typeface="Cambria Math" panose="02040503050406030204" pitchFamily="18" charset="0"/>
                          </a:rPr>
                          <m:t>lpenalty</m:t>
                        </m:r>
                        <m:r>
                          <a:rPr lang="vi-VN" sz="1600" i="1">
                            <a:latin typeface="Cambria Math" panose="02040503050406030204" pitchFamily="18" charset="0"/>
                          </a:rPr>
                          <m:t>)</m:t>
                        </m:r>
                      </m:e>
                    </m:nary>
                  </m:oMath>
                </a14:m>
                <a:endParaRPr lang="vi-VN" sz="1600" dirty="0"/>
              </a:p>
              <a:p>
                <a:pPr marL="457200" lvl="1" indent="0">
                  <a:spcBef>
                    <a:spcPts val="0"/>
                  </a:spcBef>
                  <a:buNone/>
                </a:pPr>
                <a:endParaRPr lang="vi-VN" sz="1600" dirty="0"/>
              </a:p>
              <a:p>
                <a:pPr marL="457200" lvl="1" indent="0">
                  <a:spcBef>
                    <a:spcPts val="0"/>
                  </a:spcBef>
                  <a:buNone/>
                </a:pPr>
                <a:endParaRPr lang="vi-VN" sz="1600" dirty="0"/>
              </a:p>
              <a:p>
                <a:pPr marL="342900" indent="-342900">
                  <a:spcBef>
                    <a:spcPts val="0"/>
                  </a:spcBef>
                  <a:buSzPts val="2400"/>
                  <a:buFont typeface="Wingdings" panose="05000000000000000000" pitchFamily="2" charset="2"/>
                  <a:buChar char="§"/>
                </a:pPr>
                <a:r>
                  <a:rPr lang="vi-VN" sz="2000" dirty="0"/>
                  <a:t>ACO:</a:t>
                </a:r>
              </a:p>
              <a:p>
                <a:pPr marL="914400" lvl="2" indent="0">
                  <a:spcBef>
                    <a:spcPts val="0"/>
                  </a:spcBef>
                  <a:buNone/>
                </a:pPr>
                <a:r>
                  <a:rPr lang="vi-VN" sz="1800" dirty="0"/>
                  <a:t>Các cá thể kiến tìm đường đi tạo ra một lộ trình R, để lại pheromone càng nhiều nếu objective càng nhỏ</a:t>
                </a:r>
              </a:p>
              <a:p>
                <a:pPr marL="457200" lvl="1" indent="0">
                  <a:spcBef>
                    <a:spcPts val="0"/>
                  </a:spcBef>
                  <a:buNone/>
                </a:pPr>
                <a:r>
                  <a:rPr lang="vi-VN" sz="1600" dirty="0"/>
                  <a:t>	Hàm mục tiêu:</a:t>
                </a:r>
              </a:p>
              <a:p>
                <a:pPr marL="457200" lvl="1" indent="0">
                  <a:spcBef>
                    <a:spcPts val="0"/>
                  </a:spcBef>
                  <a:buNone/>
                </a:pPr>
                <a:r>
                  <a:rPr lang="vi-VN" sz="1600" i="1" dirty="0"/>
                  <a:t>		 objective = min</a:t>
                </a:r>
                <a14:m>
                  <m:oMath xmlns:m="http://schemas.openxmlformats.org/officeDocument/2006/math">
                    <m:nary>
                      <m:naryPr>
                        <m:chr m:val="∑"/>
                        <m:supHide m:val="on"/>
                        <m:ctrlPr>
                          <a:rPr lang="vi-VN" sz="1600" i="1">
                            <a:latin typeface="Cambria Math" panose="02040503050406030204" pitchFamily="18" charset="0"/>
                          </a:rPr>
                        </m:ctrlPr>
                      </m:naryPr>
                      <m:sub>
                        <m:r>
                          <m:rPr>
                            <m:brk m:alnAt="7"/>
                          </m:rPr>
                          <a:rPr lang="vi-VN" sz="1600" i="1">
                            <a:latin typeface="Cambria Math" panose="02040503050406030204" pitchFamily="18" charset="0"/>
                          </a:rPr>
                          <m:t>(</m:t>
                        </m:r>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r>
                          <a:rPr lang="vi-VN" sz="1600" i="1">
                            <a:latin typeface="Cambria Math" panose="02040503050406030204" pitchFamily="18" charset="0"/>
                          </a:rPr>
                          <m:t>)∈</m:t>
                        </m:r>
                        <m:r>
                          <m:rPr>
                            <m:sty m:val="p"/>
                          </m:rPr>
                          <a:rPr lang="vi-VN" sz="1600" i="1">
                            <a:latin typeface="Cambria Math" panose="02040503050406030204" pitchFamily="18" charset="0"/>
                            <a:ea typeface="Cambria Math" panose="02040503050406030204" pitchFamily="18" charset="0"/>
                          </a:rPr>
                          <m:t>R</m:t>
                        </m:r>
                        <m:r>
                          <a:rPr lang="vi-VN" sz="1600" i="1">
                            <a:latin typeface="Cambria Math" panose="02040503050406030204" pitchFamily="18" charset="0"/>
                          </a:rPr>
                          <m:t> </m:t>
                        </m:r>
                      </m:sub>
                      <m:sup/>
                      <m:e>
                        <m:r>
                          <a:rPr lang="vi-VN" sz="1600" i="1">
                            <a:latin typeface="Cambria Math" panose="02040503050406030204" pitchFamily="18" charset="0"/>
                          </a:rPr>
                          <m:t>(</m:t>
                        </m:r>
                        <m:r>
                          <m:rPr>
                            <m:sty m:val="p"/>
                          </m:rPr>
                          <a:rPr lang="vi-VN" sz="1600" i="1">
                            <a:latin typeface="Cambria Math" panose="02040503050406030204" pitchFamily="18" charset="0"/>
                          </a:rPr>
                          <m:t>t</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i</m:t>
                            </m:r>
                            <m:r>
                              <a:rPr lang="vi-VN" sz="1600" i="1">
                                <a:latin typeface="Cambria Math" panose="02040503050406030204" pitchFamily="18" charset="0"/>
                              </a:rPr>
                              <m:t>,</m:t>
                            </m:r>
                            <m:r>
                              <m:rPr>
                                <m:sty m:val="p"/>
                              </m:rPr>
                              <a:rPr lang="vi-VN" sz="1600" i="1">
                                <a:latin typeface="Cambria Math" panose="02040503050406030204" pitchFamily="18" charset="0"/>
                              </a:rPr>
                              <m:t>j</m:t>
                            </m:r>
                          </m:e>
                        </m:d>
                        <m:r>
                          <a:rPr lang="vi-VN" sz="1600" i="1">
                            <a:latin typeface="Cambria Math" panose="02040503050406030204" pitchFamily="18" charset="0"/>
                          </a:rPr>
                          <m:t>+</m:t>
                        </m:r>
                        <m:r>
                          <m:rPr>
                            <m:sty m:val="p"/>
                          </m:rPr>
                          <a:rPr lang="vi-VN" sz="1600" i="1">
                            <a:latin typeface="Cambria Math" panose="02040503050406030204" pitchFamily="18" charset="0"/>
                          </a:rPr>
                          <m:t>wait</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j</m:t>
                            </m:r>
                          </m:e>
                        </m:d>
                        <m:r>
                          <a:rPr lang="vi-VN" sz="1600" i="1">
                            <a:latin typeface="Cambria Math" panose="02040503050406030204" pitchFamily="18" charset="0"/>
                          </a:rPr>
                          <m:t>∗ </m:t>
                        </m:r>
                        <m:r>
                          <m:rPr>
                            <m:sty m:val="p"/>
                          </m:rPr>
                          <a:rPr lang="vi-VN" sz="1600" i="1">
                            <a:latin typeface="Cambria Math" panose="02040503050406030204" pitchFamily="18" charset="0"/>
                          </a:rPr>
                          <m:t>wpenalty</m:t>
                        </m:r>
                        <m:r>
                          <a:rPr lang="vi-VN" sz="1600" i="1">
                            <a:latin typeface="Cambria Math" panose="02040503050406030204" pitchFamily="18" charset="0"/>
                          </a:rPr>
                          <m:t>+</m:t>
                        </m:r>
                        <m:r>
                          <m:rPr>
                            <m:sty m:val="p"/>
                          </m:rPr>
                          <a:rPr lang="vi-VN" sz="1600" i="1">
                            <a:latin typeface="Cambria Math" panose="02040503050406030204" pitchFamily="18" charset="0"/>
                          </a:rPr>
                          <m:t>late</m:t>
                        </m:r>
                        <m:d>
                          <m:dPr>
                            <m:begChr m:val="["/>
                            <m:endChr m:val="]"/>
                            <m:ctrlPr>
                              <a:rPr lang="vi-VN" sz="1600" i="1">
                                <a:latin typeface="Cambria Math" panose="02040503050406030204" pitchFamily="18" charset="0"/>
                              </a:rPr>
                            </m:ctrlPr>
                          </m:dPr>
                          <m:e>
                            <m:r>
                              <m:rPr>
                                <m:sty m:val="p"/>
                              </m:rPr>
                              <a:rPr lang="vi-VN" sz="1600" i="1">
                                <a:latin typeface="Cambria Math" panose="02040503050406030204" pitchFamily="18" charset="0"/>
                              </a:rPr>
                              <m:t>j</m:t>
                            </m:r>
                          </m:e>
                        </m:d>
                        <m:r>
                          <a:rPr lang="vi-VN" sz="1600" i="1">
                            <a:latin typeface="Cambria Math" panose="02040503050406030204" pitchFamily="18" charset="0"/>
                          </a:rPr>
                          <m:t>∗</m:t>
                        </m:r>
                        <m:r>
                          <m:rPr>
                            <m:sty m:val="p"/>
                          </m:rPr>
                          <a:rPr lang="vi-VN" sz="1600" i="1">
                            <a:latin typeface="Cambria Math" panose="02040503050406030204" pitchFamily="18" charset="0"/>
                          </a:rPr>
                          <m:t>lpenalty</m:t>
                        </m:r>
                        <m:r>
                          <a:rPr lang="vi-VN" sz="1600" i="1">
                            <a:latin typeface="Cambria Math" panose="02040503050406030204" pitchFamily="18" charset="0"/>
                          </a:rPr>
                          <m:t>)</m:t>
                        </m:r>
                      </m:e>
                    </m:nary>
                  </m:oMath>
                </a14:m>
                <a:endParaRPr lang="vi-VN" sz="1600" dirty="0"/>
              </a:p>
              <a:p>
                <a:pPr marL="457200" lvl="1" indent="0">
                  <a:spcBef>
                    <a:spcPts val="0"/>
                  </a:spcBef>
                  <a:buNone/>
                </a:pPr>
                <a:endParaRPr lang="vi-VN" sz="1600" dirty="0"/>
              </a:p>
            </p:txBody>
          </p:sp>
        </mc:Choice>
        <mc:Fallback>
          <p:sp>
            <p:nvSpPr>
              <p:cNvPr id="79" name="Google Shape;79;p4">
                <a:extLst>
                  <a:ext uri="{FF2B5EF4-FFF2-40B4-BE49-F238E27FC236}">
                    <a16:creationId xmlns:a16="http://schemas.microsoft.com/office/drawing/2014/main" id="{7F893F9D-4F63-F137-EB63-EA0CCC38C342}"/>
                  </a:ext>
                </a:extLst>
              </p:cNvPr>
              <p:cNvSpPr txBox="1">
                <a:spLocks noGrp="1" noRot="1" noChangeAspect="1" noMove="1" noResize="1" noEditPoints="1" noAdjustHandles="1" noChangeArrowheads="1" noChangeShapeType="1" noTextEdit="1"/>
              </p:cNvSpPr>
              <p:nvPr>
                <p:ph type="body" idx="1"/>
              </p:nvPr>
            </p:nvSpPr>
            <p:spPr>
              <a:xfrm>
                <a:off x="365759" y="943276"/>
                <a:ext cx="8543417" cy="5201364"/>
              </a:xfrm>
              <a:prstGeom prst="rect">
                <a:avLst/>
              </a:prstGeom>
              <a:blipFill>
                <a:blip r:embed="rId3"/>
                <a:stretch>
                  <a:fillRect l="-999" t="-1876"/>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507807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
          <a:extLst>
            <a:ext uri="{FF2B5EF4-FFF2-40B4-BE49-F238E27FC236}">
              <a16:creationId xmlns:a16="http://schemas.microsoft.com/office/drawing/2014/main" id="{6C0DA470-633F-0B31-2FBD-413F68007E7F}"/>
            </a:ext>
          </a:extLst>
        </p:cNvPr>
        <p:cNvGrpSpPr/>
        <p:nvPr/>
      </p:nvGrpSpPr>
      <p:grpSpPr>
        <a:xfrm>
          <a:off x="0" y="0"/>
          <a:ext cx="0" cy="0"/>
          <a:chOff x="0" y="0"/>
          <a:chExt cx="0" cy="0"/>
        </a:xfrm>
      </p:grpSpPr>
      <p:sp>
        <p:nvSpPr>
          <p:cNvPr id="70" name="Google Shape;70;g39884b74e3e_0_14">
            <a:extLst>
              <a:ext uri="{FF2B5EF4-FFF2-40B4-BE49-F238E27FC236}">
                <a16:creationId xmlns:a16="http://schemas.microsoft.com/office/drawing/2014/main" id="{8D1F11F3-7685-3E60-5947-944D90F7DF4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71" name="Google Shape;71;g39884b74e3e_0_14">
            <a:extLst>
              <a:ext uri="{FF2B5EF4-FFF2-40B4-BE49-F238E27FC236}">
                <a16:creationId xmlns:a16="http://schemas.microsoft.com/office/drawing/2014/main" id="{22BB4CEB-0253-7411-FA2C-5C8BD121E55A}"/>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khởi tạo tham lam</a:t>
            </a:r>
            <a:endParaRPr dirty="0"/>
          </a:p>
        </p:txBody>
      </p:sp>
      <p:sp>
        <p:nvSpPr>
          <p:cNvPr id="72" name="Google Shape;72;g39884b74e3e_0_14">
            <a:extLst>
              <a:ext uri="{FF2B5EF4-FFF2-40B4-BE49-F238E27FC236}">
                <a16:creationId xmlns:a16="http://schemas.microsoft.com/office/drawing/2014/main" id="{BE3FD207-CB40-C232-8BA7-5C03D8594F53}"/>
              </a:ext>
            </a:extLst>
          </p:cNvPr>
          <p:cNvSpPr txBox="1">
            <a:spLocks noGrp="1"/>
          </p:cNvSpPr>
          <p:nvPr>
            <p:ph type="body" idx="1"/>
          </p:nvPr>
        </p:nvSpPr>
        <p:spPr>
          <a:xfrm>
            <a:off x="86627" y="1049153"/>
            <a:ext cx="8822650" cy="5095493"/>
          </a:xfrm>
          <a:prstGeom prst="rect">
            <a:avLst/>
          </a:prstGeom>
          <a:noFill/>
          <a:ln>
            <a:noFill/>
          </a:ln>
        </p:spPr>
        <p:txBody>
          <a:bodyPr spcFirstLastPara="1" wrap="square" lIns="91425" tIns="45700" rIns="91425" bIns="45700" anchor="t" anchorCtr="0">
            <a:noAutofit/>
          </a:bodyPr>
          <a:lstStyle/>
          <a:p>
            <a:pPr marL="495300" lvl="0" indent="-342900" algn="l" rtl="0">
              <a:lnSpc>
                <a:spcPct val="90000"/>
              </a:lnSpc>
              <a:spcBef>
                <a:spcPts val="0"/>
              </a:spcBef>
              <a:spcAft>
                <a:spcPts val="0"/>
              </a:spcAft>
              <a:buClr>
                <a:schemeClr val="dk1"/>
              </a:buClr>
              <a:buSzPts val="2400"/>
              <a:buFont typeface="Wingdings" panose="05000000000000000000" pitchFamily="2" charset="2"/>
              <a:buChar char="§"/>
            </a:pPr>
            <a:r>
              <a:rPr lang="vi-VN" sz="2400" dirty="0"/>
              <a:t>Khởi tạo ngẫu nhiên toàn bộ quần thể: quần thể kém, khó cải thiện và dễ rơi vào cực trị địa phương qua nhiều thế hệ</a:t>
            </a:r>
          </a:p>
          <a:p>
            <a:pPr marL="495300" indent="-342900">
              <a:spcBef>
                <a:spcPts val="0"/>
              </a:spcBef>
              <a:buSzPts val="2400"/>
              <a:buFont typeface="Wingdings" panose="05000000000000000000" pitchFamily="2" charset="2"/>
              <a:buChar char="§"/>
            </a:pPr>
            <a:r>
              <a:rPr lang="vi-VN" sz="2400" dirty="0"/>
              <a:t>Khởi tạo tham lam:</a:t>
            </a:r>
          </a:p>
          <a:p>
            <a:pPr marL="952500" lvl="1" indent="-342900">
              <a:spcBef>
                <a:spcPts val="0"/>
              </a:spcBef>
            </a:pPr>
            <a:r>
              <a:rPr lang="vi-VN" sz="2000" dirty="0"/>
              <a:t>Chiến thuật 1: Thời gian di chuyển ngắn nhất</a:t>
            </a:r>
          </a:p>
          <a:p>
            <a:pPr marL="1524000" lvl="3" indent="0">
              <a:spcBef>
                <a:spcPts val="0"/>
              </a:spcBef>
              <a:buNone/>
            </a:pPr>
            <a:r>
              <a:rPr lang="vi-VN" sz="1600" dirty="0"/>
              <a:t>Chiến thuật dễ nhìn thấy nhất, nhưng không đủ hiệu quả vì chưa gắn với thời gian time window</a:t>
            </a:r>
          </a:p>
          <a:p>
            <a:pPr marL="952500" lvl="1" indent="-342900">
              <a:spcBef>
                <a:spcPts val="0"/>
              </a:spcBef>
            </a:pPr>
            <a:r>
              <a:rPr lang="vi-VN" sz="2000" dirty="0"/>
              <a:t>Chiến thuật 2: Thời gian chờ ngắn nhất</a:t>
            </a:r>
          </a:p>
          <a:p>
            <a:pPr marL="1066800" lvl="2" indent="0">
              <a:spcBef>
                <a:spcPts val="0"/>
              </a:spcBef>
              <a:buNone/>
            </a:pPr>
            <a:r>
              <a:rPr lang="vi-VN" sz="1600" dirty="0"/>
              <a:t>	Điều này có nghĩa là tránh lãng phí thời gian nhất có thể</a:t>
            </a:r>
          </a:p>
          <a:p>
            <a:pPr marL="952500" lvl="1" indent="-342900">
              <a:spcBef>
                <a:spcPts val="0"/>
              </a:spcBef>
            </a:pPr>
            <a:r>
              <a:rPr lang="vi-VN" sz="2000" dirty="0"/>
              <a:t>Chiến thuật 3: Thời gian mở cửa time window sớm nhất</a:t>
            </a:r>
          </a:p>
          <a:p>
            <a:pPr marL="1066800" lvl="2" indent="0">
              <a:spcBef>
                <a:spcPts val="0"/>
              </a:spcBef>
              <a:buNone/>
            </a:pPr>
            <a:r>
              <a:rPr lang="vi-VN" sz="1600" dirty="0"/>
              <a:t>	Có thể tốt, vì mở cửa sớm thường đóng cửa sớm</a:t>
            </a:r>
          </a:p>
          <a:p>
            <a:pPr marL="952500" lvl="1" indent="-342900">
              <a:spcBef>
                <a:spcPts val="0"/>
              </a:spcBef>
            </a:pPr>
            <a:r>
              <a:rPr lang="vi-VN" sz="2000" dirty="0"/>
              <a:t>Chiến thuật 4: Khẩn cấp nhất</a:t>
            </a:r>
          </a:p>
          <a:p>
            <a:pPr marL="1524000" lvl="3" indent="0">
              <a:spcBef>
                <a:spcPts val="0"/>
              </a:spcBef>
              <a:buNone/>
            </a:pPr>
            <a:r>
              <a:rPr lang="vi-VN" sz="1600" dirty="0"/>
              <a:t>Là chọn những request mà khi đến nơi vẫn kịp trước thời hạn đóng cửa time window, trong đó thời gian còn lại càng ít càng được ưu tiên. Điều này tránh vi phạm time </a:t>
            </a:r>
            <a:r>
              <a:rPr lang="vi-VN" sz="1400" dirty="0"/>
              <a:t>window</a:t>
            </a:r>
          </a:p>
          <a:p>
            <a:pPr marL="495300" indent="-342900">
              <a:spcBef>
                <a:spcPts val="0"/>
              </a:spcBef>
              <a:buFont typeface="Wingdings" panose="05000000000000000000" pitchFamily="2" charset="2"/>
              <a:buChar char="§"/>
            </a:pPr>
            <a:r>
              <a:rPr lang="vi-VN" sz="2400" dirty="0"/>
              <a:t>Khởi tạo quần thể: là sự kết hợp cả 4 chiến thuật tham lam với tỉ lệ 30-50% quần thể, còn lại là khởi tạo ngẫu nhiên để đảm bảo tính tổng quát</a:t>
            </a:r>
          </a:p>
          <a:p>
            <a:pPr marL="228600" lvl="0" indent="-76200" algn="l" rtl="0">
              <a:lnSpc>
                <a:spcPct val="90000"/>
              </a:lnSpc>
              <a:spcBef>
                <a:spcPts val="0"/>
              </a:spcBef>
              <a:spcAft>
                <a:spcPts val="0"/>
              </a:spcAft>
              <a:buClr>
                <a:schemeClr val="dk1"/>
              </a:buClr>
              <a:buSzPts val="2400"/>
              <a:buNone/>
            </a:pPr>
            <a:endParaRPr lang="vi-VN" sz="2400" dirty="0"/>
          </a:p>
        </p:txBody>
      </p:sp>
    </p:spTree>
    <p:extLst>
      <p:ext uri="{BB962C8B-B14F-4D97-AF65-F5344CB8AC3E}">
        <p14:creationId xmlns:p14="http://schemas.microsoft.com/office/powerpoint/2010/main" val="37311878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4"/>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sp>
        <p:nvSpPr>
          <p:cNvPr id="78" name="Google Shape;78;p4"/>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Lựa chọn toán tử </a:t>
            </a:r>
            <a:endParaRPr dirty="0"/>
          </a:p>
        </p:txBody>
      </p:sp>
      <p:sp>
        <p:nvSpPr>
          <p:cNvPr id="79" name="Google Shape;79;p4"/>
          <p:cNvSpPr txBox="1">
            <a:spLocks noGrp="1"/>
          </p:cNvSpPr>
          <p:nvPr>
            <p:ph type="body" idx="1"/>
          </p:nvPr>
        </p:nvSpPr>
        <p:spPr>
          <a:xfrm>
            <a:off x="235077" y="1029903"/>
            <a:ext cx="8674100" cy="5114737"/>
          </a:xfrm>
          <a:prstGeom prst="rect">
            <a:avLst/>
          </a:prstGeom>
          <a:noFill/>
          <a:ln>
            <a:noFill/>
          </a:ln>
        </p:spPr>
        <p:txBody>
          <a:bodyPr spcFirstLastPara="1" wrap="square" lIns="91425" tIns="45700" rIns="91425" bIns="45700" anchor="t" anchorCtr="0">
            <a:noAutofit/>
          </a:bodyPr>
          <a:lstStyle/>
          <a:p>
            <a:pPr marL="342900" indent="-342900">
              <a:spcBef>
                <a:spcPts val="0"/>
              </a:spcBef>
              <a:buSzPts val="2400"/>
              <a:buFont typeface="Wingdings" panose="05000000000000000000" pitchFamily="2" charset="2"/>
              <a:buChar char="§"/>
            </a:pPr>
            <a:r>
              <a:rPr lang="vi-VN" dirty="0"/>
              <a:t>Các toán tử sử dụng cho GA:</a:t>
            </a:r>
          </a:p>
          <a:p>
            <a:pPr marL="742950" lvl="1" indent="-285750">
              <a:spcBef>
                <a:spcPts val="0"/>
              </a:spcBef>
              <a:buFont typeface="Arial" panose="020B0604020202020204" pitchFamily="34" charset="0"/>
              <a:buChar char="•"/>
            </a:pPr>
            <a:r>
              <a:rPr lang="vi-VN" sz="2000" dirty="0"/>
              <a:t>Đánh giá độ fitness: Đánh giá tiêu chuẩn (fitness = objective)</a:t>
            </a:r>
          </a:p>
          <a:p>
            <a:pPr marL="742950" lvl="1" indent="-285750">
              <a:spcBef>
                <a:spcPts val="0"/>
              </a:spcBef>
              <a:buFont typeface="Arial" panose="020B0604020202020204" pitchFamily="34" charset="0"/>
              <a:buChar char="•"/>
            </a:pPr>
            <a:r>
              <a:rPr lang="vi-VN" sz="2000" dirty="0"/>
              <a:t>Lựa chọn cha mẹ: roulette, tournament selection</a:t>
            </a:r>
          </a:p>
          <a:p>
            <a:pPr marL="742950" lvl="1" indent="-285750">
              <a:spcBef>
                <a:spcPts val="0"/>
              </a:spcBef>
            </a:pPr>
            <a:r>
              <a:rPr lang="vi-VN" sz="2000" dirty="0"/>
              <a:t>Lai ghép: order crossover</a:t>
            </a:r>
          </a:p>
          <a:p>
            <a:pPr marL="742950" lvl="1" indent="-285750">
              <a:spcBef>
                <a:spcPts val="0"/>
              </a:spcBef>
            </a:pPr>
            <a:r>
              <a:rPr lang="vi-VN" sz="2000" dirty="0"/>
              <a:t>Đột biến: inverison, scramble, swap mutation</a:t>
            </a:r>
          </a:p>
          <a:p>
            <a:pPr marL="742950" lvl="1" indent="-285750">
              <a:spcBef>
                <a:spcPts val="0"/>
              </a:spcBef>
            </a:pPr>
            <a:r>
              <a:rPr lang="vi-VN" sz="2000" dirty="0"/>
              <a:t>Chọn lọc sinh tồn: s</a:t>
            </a:r>
            <a:r>
              <a:rPr lang="en-US" sz="2000" dirty="0" err="1"/>
              <a:t>tochastic</a:t>
            </a:r>
            <a:r>
              <a:rPr lang="en-US" sz="2000" dirty="0"/>
              <a:t> </a:t>
            </a:r>
            <a:r>
              <a:rPr lang="vi-VN" sz="2000" dirty="0"/>
              <a:t>u</a:t>
            </a:r>
            <a:r>
              <a:rPr lang="en-US" sz="2000" dirty="0" err="1"/>
              <a:t>niversal</a:t>
            </a:r>
            <a:r>
              <a:rPr lang="en-US" sz="2000" dirty="0"/>
              <a:t> </a:t>
            </a:r>
            <a:r>
              <a:rPr lang="vi-VN" sz="2000" dirty="0"/>
              <a:t>sampling,</a:t>
            </a:r>
            <a:endParaRPr lang="en-US" sz="2000" dirty="0"/>
          </a:p>
          <a:p>
            <a:pPr marL="457200" lvl="1" indent="0">
              <a:spcBef>
                <a:spcPts val="0"/>
              </a:spcBef>
              <a:buNone/>
            </a:pPr>
            <a:r>
              <a:rPr lang="vi-VN" sz="2000" dirty="0"/>
              <a:t>tournament survivor selection</a:t>
            </a:r>
          </a:p>
          <a:p>
            <a:pPr marL="342900" lvl="0" indent="-342900" rtl="0">
              <a:lnSpc>
                <a:spcPct val="90000"/>
              </a:lnSpc>
              <a:spcBef>
                <a:spcPts val="0"/>
              </a:spcBef>
              <a:spcAft>
                <a:spcPts val="0"/>
              </a:spcAft>
              <a:buClr>
                <a:schemeClr val="dk1"/>
              </a:buClr>
              <a:buSzPts val="2400"/>
              <a:buFont typeface="Wingdings" panose="05000000000000000000" pitchFamily="2" charset="2"/>
              <a:buChar char="§"/>
            </a:pPr>
            <a:r>
              <a:rPr lang="vi-VN" dirty="0"/>
              <a:t>Các toán tử sử dụng cho GP:</a:t>
            </a:r>
          </a:p>
          <a:p>
            <a:pPr marL="800100" lvl="1" indent="-342900">
              <a:spcBef>
                <a:spcPts val="0"/>
              </a:spcBef>
              <a:buFont typeface="Arial" panose="020B0604020202020204" pitchFamily="34" charset="0"/>
              <a:buChar char="•"/>
            </a:pPr>
            <a:r>
              <a:rPr lang="vi-VN" sz="2000" dirty="0"/>
              <a:t>Đánh giá độ fitness: Đánh giá tiêu chuẩn (fitness = objective)</a:t>
            </a:r>
          </a:p>
          <a:p>
            <a:pPr marL="800100" lvl="1" indent="-342900">
              <a:spcBef>
                <a:spcPts val="0"/>
              </a:spcBef>
              <a:buFont typeface="Arial" panose="020B0604020202020204" pitchFamily="34" charset="0"/>
              <a:buChar char="•"/>
            </a:pPr>
            <a:r>
              <a:rPr lang="vi-VN" sz="2000" dirty="0"/>
              <a:t>Lựa chọn cha mẹ: tournament selection</a:t>
            </a:r>
          </a:p>
          <a:p>
            <a:pPr marL="800100" lvl="1" indent="-342900">
              <a:spcBef>
                <a:spcPts val="0"/>
              </a:spcBef>
              <a:buFont typeface="Arial" panose="020B0604020202020204" pitchFamily="34" charset="0"/>
              <a:buChar char="•"/>
            </a:pPr>
            <a:r>
              <a:rPr lang="vi-VN" sz="2000" dirty="0"/>
              <a:t>Lai ghép: Lai ghép một điểm cắt bảo toàn độ sâu tối đa</a:t>
            </a:r>
          </a:p>
          <a:p>
            <a:pPr marL="800100" lvl="1" indent="-342900">
              <a:spcBef>
                <a:spcPts val="0"/>
              </a:spcBef>
              <a:buFont typeface="Arial" panose="020B0604020202020204" pitchFamily="34" charset="0"/>
              <a:buChar char="•"/>
            </a:pPr>
            <a:r>
              <a:rPr lang="vi-VN" sz="2000" dirty="0"/>
              <a:t>Đột biến: thay ngẫu nhiên cây con bằng một cây được khởi tạo ngẫu nhiên sao cho vẫn bảo toàn độ sâu của cây GP</a:t>
            </a:r>
          </a:p>
          <a:p>
            <a:pPr marL="800100" lvl="1" indent="-342900">
              <a:spcBef>
                <a:spcPts val="0"/>
              </a:spcBef>
              <a:buFont typeface="Arial" panose="020B0604020202020204" pitchFamily="34" charset="0"/>
              <a:buChar char="•"/>
            </a:pPr>
            <a:r>
              <a:rPr lang="vi-VN" sz="2000" dirty="0"/>
              <a:t>Chọn lọc sinh tồn: tournament survivor selection</a:t>
            </a:r>
          </a:p>
          <a:p>
            <a:pPr marL="0" lvl="0" indent="0" rtl="0">
              <a:lnSpc>
                <a:spcPct val="90000"/>
              </a:lnSpc>
              <a:spcBef>
                <a:spcPts val="0"/>
              </a:spcBef>
              <a:spcAft>
                <a:spcPts val="0"/>
              </a:spcAft>
              <a:buClr>
                <a:schemeClr val="dk1"/>
              </a:buClr>
              <a:buSzPts val="2400"/>
              <a:buNone/>
            </a:pPr>
            <a:endParaRPr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33B2D681-502B-E9A7-33E0-CD26CBBA7ADB}"/>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F4E86A52-EA65-761D-D7B0-9E3D79C13AB6}"/>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78" name="Google Shape;78;p4">
            <a:extLst>
              <a:ext uri="{FF2B5EF4-FFF2-40B4-BE49-F238E27FC236}">
                <a16:creationId xmlns:a16="http://schemas.microsoft.com/office/drawing/2014/main" id="{18BB58A9-FE34-514D-5400-72646D3CA203}"/>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Sử dụng toán tử linh hoạt cho GA</a:t>
            </a:r>
            <a:endParaRPr dirty="0"/>
          </a:p>
        </p:txBody>
      </p:sp>
      <mc:AlternateContent xmlns:mc="http://schemas.openxmlformats.org/markup-compatibility/2006" xmlns:a14="http://schemas.microsoft.com/office/drawing/2010/main">
        <mc:Choice Requires="a14">
          <p:sp>
            <p:nvSpPr>
              <p:cNvPr id="79" name="Google Shape;79;p4">
                <a:extLst>
                  <a:ext uri="{FF2B5EF4-FFF2-40B4-BE49-F238E27FC236}">
                    <a16:creationId xmlns:a16="http://schemas.microsoft.com/office/drawing/2014/main" id="{36CF7B77-F420-59D4-9C2A-814580A3ADC2}"/>
                  </a:ext>
                </a:extLst>
              </p:cNvPr>
              <p:cNvSpPr txBox="1">
                <a:spLocks noGrp="1"/>
              </p:cNvSpPr>
              <p:nvPr>
                <p:ph type="body" idx="1"/>
              </p:nvPr>
            </p:nvSpPr>
            <p:spPr>
              <a:xfrm>
                <a:off x="127000" y="821267"/>
                <a:ext cx="8782177" cy="5323373"/>
              </a:xfrm>
              <a:prstGeom prst="rect">
                <a:avLst/>
              </a:prstGeom>
              <a:noFill/>
              <a:ln>
                <a:noFill/>
              </a:ln>
            </p:spPr>
            <p:txBody>
              <a:bodyPr spcFirstLastPara="1" wrap="square" lIns="91425" tIns="45700" rIns="91425" bIns="45700" anchor="t" anchorCtr="0">
                <a:noAutofit/>
              </a:bodyPr>
              <a:lstStyle/>
              <a:p>
                <a:pPr marL="285750" indent="-285750">
                  <a:spcBef>
                    <a:spcPts val="0"/>
                  </a:spcBef>
                  <a:buSzPts val="2400"/>
                  <a:buFont typeface="Wingdings" panose="05000000000000000000" pitchFamily="2" charset="2"/>
                  <a:buChar char="§"/>
                </a:pPr>
                <a:r>
                  <a:rPr lang="vi-VN" sz="2000" dirty="0"/>
                  <a:t>Thuật toán GA theo thử nghiệm có tốc độ hội tụ chậm và tỉ lệ cho kết quả tối ưu cục bộ cao</a:t>
                </a:r>
              </a:p>
              <a:p>
                <a:pPr marL="285750" indent="-285750">
                  <a:spcBef>
                    <a:spcPts val="0"/>
                  </a:spcBef>
                  <a:buSzPts val="2400"/>
                  <a:buFont typeface="Wingdings" panose="05000000000000000000" pitchFamily="2" charset="2"/>
                  <a:buChar char="§"/>
                </a:pPr>
                <a:r>
                  <a:rPr lang="vi-VN" sz="2000" dirty="0"/>
                  <a:t>Chiến thuật lựa chọn toán tử theo qua từng thế hệ</a:t>
                </a:r>
              </a:p>
              <a:p>
                <a:pPr marL="0" lvl="0" indent="0">
                  <a:spcBef>
                    <a:spcPts val="0"/>
                  </a:spcBef>
                  <a:buSzPts val="2400"/>
                  <a:buNone/>
                </a:pPr>
                <a:r>
                  <a:rPr lang="vi-VN" sz="1600" dirty="0"/>
                  <a:t>        Gọi k là giai đoạn của quần thể, </a:t>
                </a:r>
                <a14:m>
                  <m:oMath xmlns:m="http://schemas.openxmlformats.org/officeDocument/2006/math">
                    <m:r>
                      <m:rPr>
                        <m:sty m:val="p"/>
                      </m:rPr>
                      <a:rPr lang="vi-VN" sz="1600" dirty="0">
                        <a:latin typeface="Cambria Math" panose="02040503050406030204" pitchFamily="18" charset="0"/>
                      </a:rPr>
                      <m:t>k</m:t>
                    </m:r>
                    <m:d>
                      <m:dPr>
                        <m:begChr m:val="["/>
                        <m:endChr m:val="]"/>
                        <m:ctrlPr>
                          <a:rPr lang="vi-VN" sz="1600" i="1" dirty="0">
                            <a:latin typeface="Cambria Math" panose="02040503050406030204" pitchFamily="18" charset="0"/>
                          </a:rPr>
                        </m:ctrlPr>
                      </m:dPr>
                      <m:e>
                        <m:r>
                          <a:rPr lang="vi-VN" sz="1600" i="1" dirty="0">
                            <a:latin typeface="Cambria Math" panose="02040503050406030204" pitchFamily="18" charset="0"/>
                          </a:rPr>
                          <m:t>0,1</m:t>
                        </m:r>
                      </m:e>
                    </m:d>
                  </m:oMath>
                </a14:m>
                <a:r>
                  <a:rPr lang="vi-VN" sz="1600" dirty="0"/>
                  <a:t>, k = 0: quần thể ban đầu, k = 1: quần thể cuối cùng</a:t>
                </a:r>
              </a:p>
              <a:p>
                <a:pPr marL="0" lvl="0" indent="0">
                  <a:spcBef>
                    <a:spcPts val="0"/>
                  </a:spcBef>
                  <a:buSzPts val="2400"/>
                  <a:buNone/>
                </a:pPr>
                <a:r>
                  <a:rPr lang="vi-VN" sz="1800" dirty="0"/>
                  <a:t>- Lựa chọn cha mẹ:</a:t>
                </a:r>
              </a:p>
              <a:p>
                <a:pPr marL="457200" lvl="1" indent="0">
                  <a:spcBef>
                    <a:spcPts val="0"/>
                  </a:spcBef>
                  <a:buNone/>
                </a:pPr>
                <a:r>
                  <a:rPr lang="vi-VN" sz="1600" dirty="0"/>
                  <a:t>+ k &lt; 0.3 : Giai đoạn đầu cần đa dạng cao, áp dụng roulette, cá thể yếu cũng có thể làm cha mẹ</a:t>
                </a:r>
              </a:p>
              <a:p>
                <a:pPr marL="457200" lvl="1" indent="0">
                  <a:spcBef>
                    <a:spcPts val="0"/>
                  </a:spcBef>
                  <a:buNone/>
                </a:pPr>
                <a:r>
                  <a:rPr lang="vi-VN" sz="1600" dirty="0"/>
                  <a:t>+ k &lt; 1: Giai đoạn sau cần áp lực chọn lọc cao hơn để quần thể hội tụ, áp lực lựa chọn tăng dần theo tuyến tính: </a:t>
                </a:r>
                <a14:m>
                  <m:oMath xmlns:m="http://schemas.openxmlformats.org/officeDocument/2006/math">
                    <m:r>
                      <m:rPr>
                        <m:nor/>
                      </m:rPr>
                      <a:rPr lang="da-DK" sz="1600" i="1"/>
                      <m:t>3 + </m:t>
                    </m:r>
                    <m:r>
                      <m:rPr>
                        <m:nor/>
                      </m:rPr>
                      <a:rPr lang="da-DK" sz="1600" i="1"/>
                      <m:t>int</m:t>
                    </m:r>
                    <m:r>
                      <m:rPr>
                        <m:nor/>
                      </m:rPr>
                      <a:rPr lang="da-DK" sz="1600" i="1"/>
                      <m:t>(</m:t>
                    </m:r>
                    <m:r>
                      <m:rPr>
                        <m:sty m:val="p"/>
                      </m:rPr>
                      <a:rPr lang="vi-VN" sz="1600" i="1">
                        <a:latin typeface="Cambria Math" panose="02040503050406030204" pitchFamily="18" charset="0"/>
                      </a:rPr>
                      <m:t>k</m:t>
                    </m:r>
                    <m:r>
                      <m:rPr>
                        <m:nor/>
                      </m:rPr>
                      <a:rPr lang="da-DK" sz="1600" i="1"/>
                      <m:t> ∗ 5)</m:t>
                    </m:r>
                  </m:oMath>
                </a14:m>
                <a:endParaRPr lang="vi-VN" sz="1400" dirty="0"/>
              </a:p>
              <a:p>
                <a:pPr marL="0" indent="0">
                  <a:spcBef>
                    <a:spcPts val="0"/>
                  </a:spcBef>
                  <a:buSzPts val="2400"/>
                  <a:buNone/>
                </a:pPr>
                <a:r>
                  <a:rPr lang="vi-VN" sz="1800" dirty="0"/>
                  <a:t>- Chọn lọc sinh tồn:</a:t>
                </a:r>
              </a:p>
              <a:p>
                <a:pPr marL="457200" lvl="1" indent="0">
                  <a:spcBef>
                    <a:spcPts val="0"/>
                  </a:spcBef>
                  <a:buNone/>
                </a:pPr>
                <a:r>
                  <a:rPr lang="vi-VN" sz="1600" dirty="0"/>
                  <a:t>+ k &lt; 0.4: Giai đoạn đầu, chọn lọc kiểu rải (Stochastic Universal Sampling)</a:t>
                </a:r>
              </a:p>
              <a:p>
                <a:pPr marL="457200" lvl="1" indent="0">
                  <a:spcBef>
                    <a:spcPts val="0"/>
                  </a:spcBef>
                  <a:buNone/>
                </a:pPr>
                <a:r>
                  <a:rPr lang="vi-VN" sz="1600" dirty="0"/>
                  <a:t>+ k &lt; 0.8: tournament selection: tourn_size: </a:t>
                </a:r>
                <a:r>
                  <a:rPr lang="da-DK" sz="1600" dirty="0"/>
                  <a:t>3 + int(</a:t>
                </a:r>
                <a:r>
                  <a:rPr lang="vi-VN" sz="1600" dirty="0"/>
                  <a:t>k</a:t>
                </a:r>
                <a:r>
                  <a:rPr lang="da-DK" sz="1600" dirty="0"/>
                  <a:t>* 2)</a:t>
                </a:r>
                <a:endParaRPr lang="vi-VN" sz="1600" dirty="0"/>
              </a:p>
              <a:p>
                <a:pPr marL="457200" lvl="1" indent="0">
                  <a:spcBef>
                    <a:spcPts val="0"/>
                  </a:spcBef>
                  <a:buNone/>
                </a:pPr>
                <a:r>
                  <a:rPr lang="vi-VN" sz="1600" dirty="0"/>
                  <a:t>+ k &lt; 0.95: nới lỏng tournament: 2, để đột biến lúc này có thể phát huy thêm tác dụng</a:t>
                </a:r>
              </a:p>
              <a:p>
                <a:pPr marL="457200" lvl="1" indent="0">
                  <a:spcBef>
                    <a:spcPts val="0"/>
                  </a:spcBef>
                  <a:buNone/>
                </a:pPr>
                <a:r>
                  <a:rPr lang="vi-VN" sz="1600" dirty="0"/>
                  <a:t>+ k &lt; 1: tourn_size: pop_size*0.05, để quần thể hội tụ</a:t>
                </a:r>
              </a:p>
              <a:p>
                <a:pPr marL="0" lvl="0" indent="0" rtl="0">
                  <a:lnSpc>
                    <a:spcPct val="90000"/>
                  </a:lnSpc>
                  <a:spcBef>
                    <a:spcPts val="0"/>
                  </a:spcBef>
                  <a:spcAft>
                    <a:spcPts val="0"/>
                  </a:spcAft>
                  <a:buClr>
                    <a:schemeClr val="dk1"/>
                  </a:buClr>
                  <a:buSzPts val="2400"/>
                  <a:buNone/>
                </a:pPr>
                <a:r>
                  <a:rPr lang="vi-VN" sz="1800" dirty="0"/>
                  <a:t>- Đột biến: initial_m_rate = 0.3</a:t>
                </a:r>
              </a:p>
              <a:p>
                <a:pPr marL="457200" lvl="1" indent="0">
                  <a:spcBef>
                    <a:spcPts val="0"/>
                  </a:spcBef>
                  <a:buNone/>
                </a:pPr>
                <a:r>
                  <a:rPr lang="vi-VN" sz="1600" dirty="0"/>
                  <a:t>+ k &lt; 0.4: m_rate = </a:t>
                </a:r>
                <a:r>
                  <a:rPr lang="en-US" sz="1600" dirty="0" err="1"/>
                  <a:t>initial_m_rate</a:t>
                </a:r>
                <a:r>
                  <a:rPr lang="en-US" sz="1600" dirty="0"/>
                  <a:t> * (1 - 0.7 * </a:t>
                </a:r>
                <a:r>
                  <a:rPr lang="vi-VN" sz="1600" dirty="0"/>
                  <a:t>k</a:t>
                </a:r>
                <a:r>
                  <a:rPr lang="en-US" sz="1600" dirty="0"/>
                  <a:t>)</a:t>
                </a:r>
                <a:r>
                  <a:rPr lang="vi-VN" sz="1600" dirty="0"/>
                  <a:t>, toán tử đột biến inversion (đột biến tác động mạnh)</a:t>
                </a:r>
              </a:p>
              <a:p>
                <a:pPr marL="457200" lvl="1" indent="0">
                  <a:spcBef>
                    <a:spcPts val="0"/>
                  </a:spcBef>
                  <a:buNone/>
                </a:pPr>
                <a:r>
                  <a:rPr lang="vi-VN" sz="1600" dirty="0"/>
                  <a:t>+ k &lt; 0.8: m_rate = </a:t>
                </a:r>
                <a:r>
                  <a:rPr lang="en-US" sz="1600" dirty="0" err="1"/>
                  <a:t>initial_m_rate</a:t>
                </a:r>
                <a:r>
                  <a:rPr lang="en-US" sz="1600" dirty="0"/>
                  <a:t> * (1 - 0.7 * </a:t>
                </a:r>
                <a:r>
                  <a:rPr lang="vi-VN" sz="1600" dirty="0"/>
                  <a:t>k</a:t>
                </a:r>
                <a:r>
                  <a:rPr lang="en-US" sz="1600" dirty="0"/>
                  <a:t>)</a:t>
                </a:r>
                <a:r>
                  <a:rPr lang="vi-VN" sz="1600" dirty="0"/>
                  <a:t>, toán tử đột biến scramble (xáo trộn, tác động trung bình)</a:t>
                </a:r>
              </a:p>
              <a:p>
                <a:pPr marL="457200" lvl="1" indent="0">
                  <a:spcBef>
                    <a:spcPts val="0"/>
                  </a:spcBef>
                  <a:buNone/>
                </a:pPr>
                <a:r>
                  <a:rPr lang="vi-VN" sz="1600" dirty="0"/>
                  <a:t>+ k &lt; 0.95: m_rate = 0.5, toán tử swap (loại đột biến yếu, tỉ lệ đột biến cao để khai thác lời giải tối ưu)</a:t>
                </a:r>
              </a:p>
              <a:p>
                <a:pPr marL="457200" lvl="1" indent="0">
                  <a:spcBef>
                    <a:spcPts val="0"/>
                  </a:spcBef>
                  <a:buNone/>
                </a:pPr>
                <a:r>
                  <a:rPr lang="vi-VN" sz="1600" dirty="0"/>
                  <a:t>+ k &lt; 1: m_rate = 0.1, toán tử swap (để quần thể hội tụ)</a:t>
                </a:r>
              </a:p>
              <a:p>
                <a:pPr marL="457200" lvl="1" indent="0">
                  <a:spcBef>
                    <a:spcPts val="0"/>
                  </a:spcBef>
                  <a:buNone/>
                </a:pPr>
                <a:r>
                  <a:rPr lang="vi-VN" sz="1800" dirty="0"/>
                  <a:t> </a:t>
                </a:r>
              </a:p>
              <a:p>
                <a:pPr marL="0" lvl="0" indent="0" rtl="0">
                  <a:lnSpc>
                    <a:spcPct val="90000"/>
                  </a:lnSpc>
                  <a:spcBef>
                    <a:spcPts val="0"/>
                  </a:spcBef>
                  <a:spcAft>
                    <a:spcPts val="0"/>
                  </a:spcAft>
                  <a:buClr>
                    <a:schemeClr val="dk1"/>
                  </a:buClr>
                  <a:buSzPts val="2400"/>
                  <a:buNone/>
                </a:pPr>
                <a:endParaRPr lang="vi-VN" sz="2400" dirty="0"/>
              </a:p>
              <a:p>
                <a:pPr marL="0" lvl="0" indent="0" rtl="0">
                  <a:lnSpc>
                    <a:spcPct val="90000"/>
                  </a:lnSpc>
                  <a:spcBef>
                    <a:spcPts val="0"/>
                  </a:spcBef>
                  <a:spcAft>
                    <a:spcPts val="0"/>
                  </a:spcAft>
                  <a:buClr>
                    <a:schemeClr val="dk1"/>
                  </a:buClr>
                  <a:buSzPts val="2400"/>
                  <a:buNone/>
                </a:pPr>
                <a:endParaRPr sz="2400" dirty="0"/>
              </a:p>
            </p:txBody>
          </p:sp>
        </mc:Choice>
        <mc:Fallback xmlns="">
          <p:sp>
            <p:nvSpPr>
              <p:cNvPr id="79" name="Google Shape;79;p4">
                <a:extLst>
                  <a:ext uri="{FF2B5EF4-FFF2-40B4-BE49-F238E27FC236}">
                    <a16:creationId xmlns:a16="http://schemas.microsoft.com/office/drawing/2014/main" id="{36CF7B77-F420-59D4-9C2A-814580A3ADC2}"/>
                  </a:ext>
                </a:extLst>
              </p:cNvPr>
              <p:cNvSpPr txBox="1">
                <a:spLocks noGrp="1" noRot="1" noChangeAspect="1" noMove="1" noResize="1" noEditPoints="1" noAdjustHandles="1" noChangeArrowheads="1" noChangeShapeType="1" noTextEdit="1"/>
              </p:cNvSpPr>
              <p:nvPr>
                <p:ph type="body" idx="1"/>
              </p:nvPr>
            </p:nvSpPr>
            <p:spPr>
              <a:xfrm>
                <a:off x="127000" y="821267"/>
                <a:ext cx="8782177" cy="5323373"/>
              </a:xfrm>
              <a:prstGeom prst="rect">
                <a:avLst/>
              </a:prstGeom>
              <a:blipFill>
                <a:blip r:embed="rId3"/>
                <a:stretch>
                  <a:fillRect l="-972" t="-1833" b="-355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300964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A7A2B1BE-F2D0-A63E-5A57-51E1EE8D4AAF}"/>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D4A5C4AE-F4E4-141B-6932-F78D5289ABA3}"/>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78" name="Google Shape;78;p4">
            <a:extLst>
              <a:ext uri="{FF2B5EF4-FFF2-40B4-BE49-F238E27FC236}">
                <a16:creationId xmlns:a16="http://schemas.microsoft.com/office/drawing/2014/main" id="{AA4E13AE-C9FF-5026-9917-92D7D2961C1C}"/>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654E036B-0D4F-C324-EB41-78E94855C7EA}"/>
              </a:ext>
            </a:extLst>
          </p:cNvPr>
          <p:cNvSpPr txBox="1">
            <a:spLocks noGrp="1"/>
          </p:cNvSpPr>
          <p:nvPr>
            <p:ph type="body" idx="1"/>
          </p:nvPr>
        </p:nvSpPr>
        <p:spPr>
          <a:xfrm>
            <a:off x="101600" y="973667"/>
            <a:ext cx="8807577"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1800" dirty="0"/>
              <a:t>- </a:t>
            </a:r>
            <a:r>
              <a:rPr lang="vi-VN" sz="2000" dirty="0"/>
              <a:t>Lời giải ban đầu greedy: Khởi tạo theo 4 chiến thuật với tham số k (search beam), nếu k = 1 thì chỉ lựa chọn một lời giải tốt nhất theo chiến thuật hiện tại (quần thể dễ bị tối ưu cục bộ), nếu k lớn thì trở thành ngẫu nhiên (thông thường chọn 2)</a:t>
            </a:r>
          </a:p>
          <a:p>
            <a:pPr marL="0" lvl="0" indent="0" rtl="0">
              <a:lnSpc>
                <a:spcPct val="90000"/>
              </a:lnSpc>
              <a:spcBef>
                <a:spcPts val="0"/>
              </a:spcBef>
              <a:spcAft>
                <a:spcPts val="0"/>
              </a:spcAft>
              <a:buClr>
                <a:schemeClr val="dk1"/>
              </a:buClr>
              <a:buSzPts val="2400"/>
              <a:buNone/>
            </a:pPr>
            <a:r>
              <a:rPr lang="vi-VN" sz="2000" dirty="0"/>
              <a:t>- Kết hợp Local search</a:t>
            </a:r>
          </a:p>
          <a:p>
            <a:pPr marL="457200" lvl="1" indent="0">
              <a:spcBef>
                <a:spcPts val="0"/>
              </a:spcBef>
              <a:buNone/>
            </a:pPr>
            <a:r>
              <a:rPr lang="vi-VN" sz="1600" dirty="0"/>
              <a:t>+ Mỗi lời giải con thu được sau bước đột biến, chuẩn bị thêm vào quần thể mới, sẽ tiến hành local search để tìm ra lời giải lân cận tốt hơn thay thế cho lời giải con này (first improvement/ best improvement)</a:t>
            </a:r>
          </a:p>
          <a:p>
            <a:pPr marL="457200" lvl="1" indent="0">
              <a:spcBef>
                <a:spcPts val="0"/>
              </a:spcBef>
              <a:buNone/>
            </a:pPr>
            <a:r>
              <a:rPr lang="vi-VN" sz="1600" dirty="0"/>
              <a:t>+ Khác biệt với đột biến ở chỗ nó kiểm tra ràng buộc về time window của lời giải lân cận </a:t>
            </a:r>
          </a:p>
          <a:p>
            <a:pPr marL="457200" lvl="1" indent="0">
              <a:spcBef>
                <a:spcPts val="0"/>
              </a:spcBef>
              <a:buNone/>
            </a:pPr>
            <a:r>
              <a:rPr lang="vi-VN" sz="1600" dirty="0"/>
              <a:t>+ Các toán tử cho local search:</a:t>
            </a:r>
          </a:p>
          <a:p>
            <a:pPr lvl="1"/>
            <a:r>
              <a:rPr lang="vi-VN" sz="1400" dirty="0"/>
              <a:t>Relocate (di dời thứ tự phục vụ request ở vị trí i đến vị trí j mới trong hành trình):</a:t>
            </a:r>
            <a:r>
              <a:rPr lang="vi-VN" sz="2000" dirty="0"/>
              <a:t> </a:t>
            </a:r>
            <a:r>
              <a:rPr lang="vi-VN" sz="1200" dirty="0"/>
              <a:t>Mục </a:t>
            </a:r>
            <a:r>
              <a:rPr lang="vi-VN" sz="1400" dirty="0"/>
              <a:t>đích: Khắc phục trường hợp một khách hàng bị xếp sai thứ tự quá xa, gây ra đường đi vòng vèo hoặc bị trễ giờ do đến quá muộn/quá sớm.</a:t>
            </a:r>
          </a:p>
          <a:p>
            <a:pPr lvl="1"/>
            <a:r>
              <a:rPr lang="vi-VN" sz="1400" dirty="0"/>
              <a:t>Swap (đổi chỗ thứ tự phục vụ hai request): Để cân bằng lại Time Window.</a:t>
            </a:r>
          </a:p>
          <a:p>
            <a:pPr lvl="1"/>
            <a:r>
              <a:rPr lang="vi-VN" sz="1400" dirty="0"/>
              <a:t>2-opt: (đảo ngược thứ tự phục vụ trong một đoạn): Toán tử mạnh để khử một tuyến đường bị vắt chéo</a:t>
            </a:r>
          </a:p>
          <a:p>
            <a:pPr lvl="1"/>
            <a:r>
              <a:rPr lang="vi-VN" sz="1400" dirty="0"/>
              <a:t>Or-Opt (2) (giống như relocate nhưng di dời thứ tự phục vụ 2 request cạnh nhau đến một vị trí mới): vì đôi khi hai request A và B rất gần nhau và nên đi cùng nhau mà không nên tách ra</a:t>
            </a:r>
            <a:endParaRPr lang="vi-VN" sz="1800" dirty="0"/>
          </a:p>
          <a:p>
            <a:pPr marL="0" lvl="0" indent="0" rtl="0">
              <a:lnSpc>
                <a:spcPct val="90000"/>
              </a:lnSpc>
              <a:spcBef>
                <a:spcPts val="0"/>
              </a:spcBef>
              <a:spcAft>
                <a:spcPts val="0"/>
              </a:spcAft>
              <a:buClr>
                <a:schemeClr val="dk1"/>
              </a:buClr>
              <a:buSzPts val="2400"/>
              <a:buNone/>
            </a:pPr>
            <a:endParaRPr lang="vi-VN" sz="2000" dirty="0"/>
          </a:p>
          <a:p>
            <a:pPr marL="0" lvl="0" indent="0" rtl="0">
              <a:lnSpc>
                <a:spcPct val="90000"/>
              </a:lnSpc>
              <a:spcBef>
                <a:spcPts val="0"/>
              </a:spcBef>
              <a:spcAft>
                <a:spcPts val="0"/>
              </a:spcAft>
              <a:buClr>
                <a:schemeClr val="dk1"/>
              </a:buClr>
              <a:buSzPts val="2400"/>
              <a:buNone/>
            </a:pPr>
            <a:endParaRPr sz="2000" dirty="0"/>
          </a:p>
        </p:txBody>
      </p:sp>
    </p:spTree>
    <p:extLst>
      <p:ext uri="{BB962C8B-B14F-4D97-AF65-F5344CB8AC3E}">
        <p14:creationId xmlns:p14="http://schemas.microsoft.com/office/powerpoint/2010/main" val="2390534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B826232B-D637-B5DD-7DEC-1AB72AD201FD}"/>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7CB6CFE6-3317-D29B-E383-5702C4241C2F}"/>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78" name="Google Shape;78;p4">
            <a:extLst>
              <a:ext uri="{FF2B5EF4-FFF2-40B4-BE49-F238E27FC236}">
                <a16:creationId xmlns:a16="http://schemas.microsoft.com/office/drawing/2014/main" id="{7129E19E-17C4-04EC-8340-4BEEE05F5A5A}"/>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924D01F2-3FBB-2CB7-F10C-B385E2F3C7C6}"/>
              </a:ext>
            </a:extLst>
          </p:cNvPr>
          <p:cNvSpPr txBox="1">
            <a:spLocks noGrp="1"/>
          </p:cNvSpPr>
          <p:nvPr>
            <p:ph type="body" idx="1"/>
          </p:nvPr>
        </p:nvSpPr>
        <p:spPr>
          <a:xfrm>
            <a:off x="101600" y="973667"/>
            <a:ext cx="3649133"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Quần thể dùng chiến thuật điều phối toán tử, tuy nhiên vẫn không hội tụ:</a:t>
            </a:r>
          </a:p>
          <a:p>
            <a:pPr marL="0" lvl="0" indent="0" rtl="0">
              <a:lnSpc>
                <a:spcPct val="90000"/>
              </a:lnSpc>
              <a:spcBef>
                <a:spcPts val="0"/>
              </a:spcBef>
              <a:spcAft>
                <a:spcPts val="0"/>
              </a:spcAft>
              <a:buClr>
                <a:schemeClr val="dk1"/>
              </a:buClr>
              <a:buSzPts val="2400"/>
              <a:buNone/>
            </a:pPr>
            <a:r>
              <a:rPr lang="vi-VN" sz="2000" dirty="0"/>
              <a:t>+ Thời gian phục vụ 61878/57810</a:t>
            </a:r>
          </a:p>
          <a:p>
            <a:pPr marL="0" lvl="0" indent="0" rtl="0">
              <a:lnSpc>
                <a:spcPct val="90000"/>
              </a:lnSpc>
              <a:spcBef>
                <a:spcPts val="0"/>
              </a:spcBef>
              <a:spcAft>
                <a:spcPts val="0"/>
              </a:spcAft>
              <a:buClr>
                <a:schemeClr val="dk1"/>
              </a:buClr>
              <a:buSzPts val="2400"/>
              <a:buNone/>
            </a:pPr>
            <a:r>
              <a:rPr lang="vi-VN" sz="2000" dirty="0"/>
              <a:t>+ Số lần vi phạm TW: 39 </a:t>
            </a:r>
          </a:p>
          <a:p>
            <a:pPr marL="0" lvl="0" indent="0" rtl="0">
              <a:lnSpc>
                <a:spcPct val="90000"/>
              </a:lnSpc>
              <a:spcBef>
                <a:spcPts val="0"/>
              </a:spcBef>
              <a:spcAft>
                <a:spcPts val="0"/>
              </a:spcAft>
              <a:buClr>
                <a:schemeClr val="dk1"/>
              </a:buClr>
              <a:buSzPts val="2400"/>
              <a:buNone/>
            </a:pPr>
            <a:r>
              <a:rPr lang="vi-VN" sz="2000" dirty="0"/>
              <a:t>Pop_size: 100, c_rate: 0.8, m_rate: 0.3</a:t>
            </a:r>
            <a:endParaRPr sz="2000" dirty="0"/>
          </a:p>
        </p:txBody>
      </p:sp>
      <p:pic>
        <p:nvPicPr>
          <p:cNvPr id="2" name="Picture 1">
            <a:extLst>
              <a:ext uri="{FF2B5EF4-FFF2-40B4-BE49-F238E27FC236}">
                <a16:creationId xmlns:a16="http://schemas.microsoft.com/office/drawing/2014/main" id="{639D4F40-FB37-092A-C3F1-1B40F49A8C38}"/>
              </a:ext>
            </a:extLst>
          </p:cNvPr>
          <p:cNvPicPr>
            <a:picLocks noChangeAspect="1"/>
          </p:cNvPicPr>
          <p:nvPr/>
        </p:nvPicPr>
        <p:blipFill>
          <a:blip r:embed="rId3"/>
          <a:stretch>
            <a:fillRect/>
          </a:stretch>
        </p:blipFill>
        <p:spPr>
          <a:xfrm>
            <a:off x="3922208" y="981075"/>
            <a:ext cx="4775049" cy="3804600"/>
          </a:xfrm>
          <a:prstGeom prst="rect">
            <a:avLst/>
          </a:prstGeom>
        </p:spPr>
      </p:pic>
      <p:pic>
        <p:nvPicPr>
          <p:cNvPr id="4" name="Picture 3">
            <a:extLst>
              <a:ext uri="{FF2B5EF4-FFF2-40B4-BE49-F238E27FC236}">
                <a16:creationId xmlns:a16="http://schemas.microsoft.com/office/drawing/2014/main" id="{4FC515D2-A63E-635D-E4A1-4C004929B1A6}"/>
              </a:ext>
            </a:extLst>
          </p:cNvPr>
          <p:cNvPicPr>
            <a:picLocks noChangeAspect="1"/>
          </p:cNvPicPr>
          <p:nvPr/>
        </p:nvPicPr>
        <p:blipFill>
          <a:blip r:embed="rId4"/>
          <a:stretch>
            <a:fillRect/>
          </a:stretch>
        </p:blipFill>
        <p:spPr>
          <a:xfrm>
            <a:off x="446743" y="3489212"/>
            <a:ext cx="2737245" cy="2162761"/>
          </a:xfrm>
          <a:prstGeom prst="rect">
            <a:avLst/>
          </a:prstGeom>
        </p:spPr>
      </p:pic>
    </p:spTree>
    <p:extLst>
      <p:ext uri="{BB962C8B-B14F-4D97-AF65-F5344CB8AC3E}">
        <p14:creationId xmlns:p14="http://schemas.microsoft.com/office/powerpoint/2010/main" val="1612615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D72009E5-9E30-1F86-DE56-CAFF9912DB9B}"/>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2D88DCE0-9DAF-8341-6337-48E9035BFA9B}"/>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78" name="Google Shape;78;p4">
            <a:extLst>
              <a:ext uri="{FF2B5EF4-FFF2-40B4-BE49-F238E27FC236}">
                <a16:creationId xmlns:a16="http://schemas.microsoft.com/office/drawing/2014/main" id="{03BEE0C4-FEEB-DD57-A71F-1CFB01BEC56E}"/>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F6FBC33A-C9A2-C650-80B8-F02AC469E0A1}"/>
              </a:ext>
            </a:extLst>
          </p:cNvPr>
          <p:cNvSpPr txBox="1">
            <a:spLocks noGrp="1"/>
          </p:cNvSpPr>
          <p:nvPr>
            <p:ph type="body" idx="1"/>
          </p:nvPr>
        </p:nvSpPr>
        <p:spPr>
          <a:xfrm>
            <a:off x="338667" y="973667"/>
            <a:ext cx="8331199"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Quần thể dùng khởi tạo tham lam kích thước lựa chọn request là 1, cho lời giải tối ưu từ quần thể khởi tạo</a:t>
            </a:r>
            <a:endParaRPr sz="2000" dirty="0"/>
          </a:p>
        </p:txBody>
      </p:sp>
      <p:pic>
        <p:nvPicPr>
          <p:cNvPr id="6" name="Picture 5" descr="A screen shot of a computer&#10;&#10;AI-generated content may be incorrect.">
            <a:extLst>
              <a:ext uri="{FF2B5EF4-FFF2-40B4-BE49-F238E27FC236}">
                <a16:creationId xmlns:a16="http://schemas.microsoft.com/office/drawing/2014/main" id="{DAFE4075-53DE-4888-E0F7-69C9C2E45F61}"/>
              </a:ext>
            </a:extLst>
          </p:cNvPr>
          <p:cNvPicPr>
            <a:picLocks noChangeAspect="1"/>
          </p:cNvPicPr>
          <p:nvPr/>
        </p:nvPicPr>
        <p:blipFill>
          <a:blip r:embed="rId3"/>
          <a:stretch>
            <a:fillRect/>
          </a:stretch>
        </p:blipFill>
        <p:spPr>
          <a:xfrm>
            <a:off x="1037227" y="2650637"/>
            <a:ext cx="6697010" cy="1971950"/>
          </a:xfrm>
          <a:prstGeom prst="rect">
            <a:avLst/>
          </a:prstGeom>
        </p:spPr>
      </p:pic>
    </p:spTree>
    <p:extLst>
      <p:ext uri="{BB962C8B-B14F-4D97-AF65-F5344CB8AC3E}">
        <p14:creationId xmlns:p14="http://schemas.microsoft.com/office/powerpoint/2010/main" val="1136272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1E61EF5B-82A2-6687-F18D-1B8F05526DFF}"/>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88956F39-65B6-F2CD-B805-92C4AB8D3FBD}"/>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78" name="Google Shape;78;p4">
            <a:extLst>
              <a:ext uri="{FF2B5EF4-FFF2-40B4-BE49-F238E27FC236}">
                <a16:creationId xmlns:a16="http://schemas.microsoft.com/office/drawing/2014/main" id="{8624CABD-DE56-174D-AA45-AB83579F93C3}"/>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Chiến thuật tăng cường lời giải cho GA</a:t>
            </a:r>
            <a:endParaRPr dirty="0"/>
          </a:p>
        </p:txBody>
      </p:sp>
      <p:sp>
        <p:nvSpPr>
          <p:cNvPr id="79" name="Google Shape;79;p4">
            <a:extLst>
              <a:ext uri="{FF2B5EF4-FFF2-40B4-BE49-F238E27FC236}">
                <a16:creationId xmlns:a16="http://schemas.microsoft.com/office/drawing/2014/main" id="{ABF35201-FD25-5721-DAD9-6C4C6A02932F}"/>
              </a:ext>
            </a:extLst>
          </p:cNvPr>
          <p:cNvSpPr txBox="1">
            <a:spLocks noGrp="1"/>
          </p:cNvSpPr>
          <p:nvPr>
            <p:ph type="body" idx="1"/>
          </p:nvPr>
        </p:nvSpPr>
        <p:spPr>
          <a:xfrm>
            <a:off x="101600" y="973667"/>
            <a:ext cx="7755467" cy="5170973"/>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Bộ dữ liệu 100 request</a:t>
            </a:r>
          </a:p>
          <a:p>
            <a:pPr marL="0" lvl="0" indent="0" rtl="0">
              <a:lnSpc>
                <a:spcPct val="90000"/>
              </a:lnSpc>
              <a:spcBef>
                <a:spcPts val="0"/>
              </a:spcBef>
              <a:spcAft>
                <a:spcPts val="0"/>
              </a:spcAft>
              <a:buClr>
                <a:schemeClr val="dk1"/>
              </a:buClr>
              <a:buSzPts val="2400"/>
              <a:buNone/>
            </a:pPr>
            <a:r>
              <a:rPr lang="vi-VN" sz="2000" dirty="0"/>
              <a:t>- Quần thể dùng local search chiến thuật best improvement</a:t>
            </a:r>
          </a:p>
          <a:p>
            <a:pPr marL="0" lvl="0" indent="0" rtl="0">
              <a:lnSpc>
                <a:spcPct val="90000"/>
              </a:lnSpc>
              <a:spcBef>
                <a:spcPts val="0"/>
              </a:spcBef>
              <a:spcAft>
                <a:spcPts val="0"/>
              </a:spcAft>
              <a:buClr>
                <a:schemeClr val="dk1"/>
              </a:buClr>
              <a:buSzPts val="2400"/>
              <a:buNone/>
            </a:pPr>
            <a:r>
              <a:rPr lang="vi-VN" sz="2000" dirty="0"/>
              <a:t>- Thời gian khởi tạo 8 phút</a:t>
            </a:r>
          </a:p>
          <a:p>
            <a:pPr marL="0" lvl="0" indent="0" rtl="0">
              <a:lnSpc>
                <a:spcPct val="90000"/>
              </a:lnSpc>
              <a:spcBef>
                <a:spcPts val="0"/>
              </a:spcBef>
              <a:spcAft>
                <a:spcPts val="0"/>
              </a:spcAft>
              <a:buClr>
                <a:schemeClr val="dk1"/>
              </a:buClr>
              <a:buSzPts val="2400"/>
              <a:buNone/>
            </a:pPr>
            <a:r>
              <a:rPr lang="vi-VN" sz="2000" dirty="0"/>
              <a:t>- Lời giải tối ưu từ quần thể đầu tiên</a:t>
            </a:r>
            <a:endParaRPr sz="2000" dirty="0"/>
          </a:p>
        </p:txBody>
      </p:sp>
      <p:pic>
        <p:nvPicPr>
          <p:cNvPr id="8" name="Picture 7" descr="A computer screen shot of a program code&#10;&#10;AI-generated content may be incorrect.">
            <a:extLst>
              <a:ext uri="{FF2B5EF4-FFF2-40B4-BE49-F238E27FC236}">
                <a16:creationId xmlns:a16="http://schemas.microsoft.com/office/drawing/2014/main" id="{FDBF15D6-26A2-950E-BC8A-54083D098930}"/>
              </a:ext>
            </a:extLst>
          </p:cNvPr>
          <p:cNvPicPr>
            <a:picLocks noChangeAspect="1"/>
          </p:cNvPicPr>
          <p:nvPr/>
        </p:nvPicPr>
        <p:blipFill>
          <a:blip r:embed="rId3"/>
          <a:stretch>
            <a:fillRect/>
          </a:stretch>
        </p:blipFill>
        <p:spPr>
          <a:xfrm>
            <a:off x="517652" y="2624667"/>
            <a:ext cx="8108696" cy="1907929"/>
          </a:xfrm>
          <a:prstGeom prst="rect">
            <a:avLst/>
          </a:prstGeom>
        </p:spPr>
      </p:pic>
    </p:spTree>
    <p:extLst>
      <p:ext uri="{BB962C8B-B14F-4D97-AF65-F5344CB8AC3E}">
        <p14:creationId xmlns:p14="http://schemas.microsoft.com/office/powerpoint/2010/main" val="2077626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776D2C17-5A21-63AE-C515-B1B5B8A88924}"/>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B7CC8282-8FD4-DEEE-71E5-49CFD37698E3}"/>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78" name="Google Shape;78;p4">
            <a:extLst>
              <a:ext uri="{FF2B5EF4-FFF2-40B4-BE49-F238E27FC236}">
                <a16:creationId xmlns:a16="http://schemas.microsoft.com/office/drawing/2014/main" id="{FD2FF57E-BEF7-3AC7-26F2-D7458FFBDA40}"/>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Giải thuật GP</a:t>
            </a:r>
            <a:endParaRPr dirty="0"/>
          </a:p>
        </p:txBody>
      </p:sp>
      <p:sp>
        <p:nvSpPr>
          <p:cNvPr id="79" name="Google Shape;79;p4">
            <a:extLst>
              <a:ext uri="{FF2B5EF4-FFF2-40B4-BE49-F238E27FC236}">
                <a16:creationId xmlns:a16="http://schemas.microsoft.com/office/drawing/2014/main" id="{AA13DF74-67C5-F693-1E36-9204E636BBAA}"/>
              </a:ext>
            </a:extLst>
          </p:cNvPr>
          <p:cNvSpPr txBox="1">
            <a:spLocks noGrp="1"/>
          </p:cNvSpPr>
          <p:nvPr>
            <p:ph type="body" idx="1"/>
          </p:nvPr>
        </p:nvSpPr>
        <p:spPr>
          <a:xfrm>
            <a:off x="219217" y="936171"/>
            <a:ext cx="4649116" cy="5208469"/>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 Nút lá là các luật xây dựng cây GP:</a:t>
            </a:r>
          </a:p>
          <a:p>
            <a:pPr marL="457200" lvl="1" indent="0">
              <a:spcBef>
                <a:spcPts val="0"/>
              </a:spcBef>
              <a:buNone/>
            </a:pPr>
            <a:r>
              <a:rPr lang="vi-VN" sz="1600" dirty="0"/>
              <a:t>+ Thời gian di chuyển nhỏ nhất</a:t>
            </a:r>
          </a:p>
          <a:p>
            <a:pPr marL="457200" lvl="1" indent="0">
              <a:spcBef>
                <a:spcPts val="0"/>
              </a:spcBef>
              <a:buNone/>
            </a:pPr>
            <a:r>
              <a:rPr lang="vi-VN" sz="1600" dirty="0"/>
              <a:t>+ Thời gian chờ nhỏ nhất</a:t>
            </a:r>
          </a:p>
          <a:p>
            <a:pPr marL="457200" lvl="1" indent="0">
              <a:spcBef>
                <a:spcPts val="0"/>
              </a:spcBef>
              <a:buNone/>
            </a:pPr>
            <a:r>
              <a:rPr lang="vi-VN" sz="1600" dirty="0"/>
              <a:t>+ Thời gian mở cửa sớm nhất</a:t>
            </a:r>
          </a:p>
          <a:p>
            <a:pPr marL="457200" lvl="1" indent="0">
              <a:spcBef>
                <a:spcPts val="0"/>
              </a:spcBef>
              <a:buNone/>
            </a:pPr>
            <a:r>
              <a:rPr lang="vi-VN" sz="1600" dirty="0"/>
              <a:t>+ Thời gian đóng cửa sớm nhất</a:t>
            </a:r>
          </a:p>
          <a:p>
            <a:pPr marL="457200" lvl="1" indent="0">
              <a:spcBef>
                <a:spcPts val="0"/>
              </a:spcBef>
              <a:buNone/>
            </a:pPr>
            <a:r>
              <a:rPr lang="vi-VN" sz="1600" dirty="0"/>
              <a:t>+ Mức độ khẩn cấp cao nhất</a:t>
            </a:r>
          </a:p>
          <a:p>
            <a:pPr marL="457200" lvl="1" indent="0">
              <a:spcBef>
                <a:spcPts val="0"/>
              </a:spcBef>
              <a:buNone/>
            </a:pPr>
            <a:r>
              <a:rPr lang="vi-VN" sz="1600" dirty="0"/>
              <a:t>+ Nút trong là các toán tử: add, sub, min, max, div</a:t>
            </a:r>
            <a:endParaRPr lang="vi-VN" sz="1200" dirty="0"/>
          </a:p>
          <a:p>
            <a:pPr marL="0" lvl="0" indent="0" rtl="0">
              <a:lnSpc>
                <a:spcPct val="90000"/>
              </a:lnSpc>
              <a:spcBef>
                <a:spcPts val="0"/>
              </a:spcBef>
              <a:spcAft>
                <a:spcPts val="0"/>
              </a:spcAft>
              <a:buClr>
                <a:schemeClr val="dk1"/>
              </a:buClr>
              <a:buSzPts val="2400"/>
              <a:buNone/>
            </a:pPr>
            <a:r>
              <a:rPr lang="vi-VN" sz="2000" dirty="0"/>
              <a:t>- Độ sâu mỗi cá thể 5, độ sâu lai ghép, đột biến tối đa 6</a:t>
            </a:r>
          </a:p>
          <a:p>
            <a:pPr marL="0" lvl="0" indent="0" rtl="0">
              <a:lnSpc>
                <a:spcPct val="90000"/>
              </a:lnSpc>
              <a:spcBef>
                <a:spcPts val="0"/>
              </a:spcBef>
              <a:spcAft>
                <a:spcPts val="0"/>
              </a:spcAft>
              <a:buClr>
                <a:schemeClr val="dk1"/>
              </a:buClr>
              <a:buSzPts val="2400"/>
              <a:buNone/>
            </a:pPr>
            <a:r>
              <a:rPr lang="vi-VN" sz="2000" dirty="0"/>
              <a:t>- Cây GP phức tạp và đa dạng nên đạt lời giải tối ưu chỉ trong quần thể con đầu tiên hoặc ngay quần thể khởi tạo ban đầu</a:t>
            </a:r>
          </a:p>
          <a:p>
            <a:pPr marL="0" lvl="0" indent="0" rtl="0">
              <a:lnSpc>
                <a:spcPct val="90000"/>
              </a:lnSpc>
              <a:spcBef>
                <a:spcPts val="0"/>
              </a:spcBef>
              <a:spcAft>
                <a:spcPts val="0"/>
              </a:spcAft>
              <a:buClr>
                <a:schemeClr val="dk1"/>
              </a:buClr>
              <a:buSzPts val="2400"/>
              <a:buNone/>
            </a:pPr>
            <a:r>
              <a:rPr lang="vi-VN" sz="2000" dirty="0"/>
              <a:t>- Tốc độ chạy lâu</a:t>
            </a:r>
          </a:p>
        </p:txBody>
      </p:sp>
      <p:pic>
        <p:nvPicPr>
          <p:cNvPr id="2" name="Picture 1">
            <a:extLst>
              <a:ext uri="{FF2B5EF4-FFF2-40B4-BE49-F238E27FC236}">
                <a16:creationId xmlns:a16="http://schemas.microsoft.com/office/drawing/2014/main" id="{85C7A67E-8D7F-1ED9-08A0-B110B0A8BFF7}"/>
              </a:ext>
            </a:extLst>
          </p:cNvPr>
          <p:cNvPicPr>
            <a:picLocks noChangeAspect="1"/>
          </p:cNvPicPr>
          <p:nvPr/>
        </p:nvPicPr>
        <p:blipFill>
          <a:blip r:embed="rId3"/>
          <a:stretch>
            <a:fillRect/>
          </a:stretch>
        </p:blipFill>
        <p:spPr>
          <a:xfrm>
            <a:off x="4962211" y="1150307"/>
            <a:ext cx="3962572" cy="1508226"/>
          </a:xfrm>
          <a:prstGeom prst="rect">
            <a:avLst/>
          </a:prstGeom>
        </p:spPr>
      </p:pic>
      <p:sp>
        <p:nvSpPr>
          <p:cNvPr id="3" name="TextBox 2">
            <a:extLst>
              <a:ext uri="{FF2B5EF4-FFF2-40B4-BE49-F238E27FC236}">
                <a16:creationId xmlns:a16="http://schemas.microsoft.com/office/drawing/2014/main" id="{7ED7461C-5465-3971-84B9-5FC199F8E759}"/>
              </a:ext>
            </a:extLst>
          </p:cNvPr>
          <p:cNvSpPr txBox="1"/>
          <p:nvPr/>
        </p:nvSpPr>
        <p:spPr>
          <a:xfrm>
            <a:off x="5347616" y="3097488"/>
            <a:ext cx="2548467" cy="1754326"/>
          </a:xfrm>
          <a:prstGeom prst="rect">
            <a:avLst/>
          </a:prstGeom>
          <a:noFill/>
        </p:spPr>
        <p:txBody>
          <a:bodyPr wrap="square" rtlCol="0">
            <a:spAutoFit/>
          </a:bodyPr>
          <a:lstStyle/>
          <a:p>
            <a:r>
              <a:rPr lang="vi-VN" sz="1800" dirty="0"/>
              <a:t>- Bộ dữ liệu 1000 request mất 20 phút để có quần thể khởi tạo (khởi tạo random)</a:t>
            </a:r>
          </a:p>
          <a:p>
            <a:r>
              <a:rPr lang="vi-VN" sz="1800" dirty="0"/>
              <a:t>- Quần thể khởi tạo đạt tối ưu</a:t>
            </a:r>
            <a:endParaRPr lang="en-US" sz="1800" dirty="0"/>
          </a:p>
        </p:txBody>
      </p:sp>
    </p:spTree>
    <p:extLst>
      <p:ext uri="{BB962C8B-B14F-4D97-AF65-F5344CB8AC3E}">
        <p14:creationId xmlns:p14="http://schemas.microsoft.com/office/powerpoint/2010/main" val="265574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C460FCA3-1084-097E-D1D9-C40A1306A4D8}"/>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8A50F370-BCC0-45BC-FB21-B91754B5720C}"/>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78" name="Google Shape;78;p4">
            <a:extLst>
              <a:ext uri="{FF2B5EF4-FFF2-40B4-BE49-F238E27FC236}">
                <a16:creationId xmlns:a16="http://schemas.microsoft.com/office/drawing/2014/main" id="{51B2BB23-628C-A151-9F37-1D656C20DE7D}"/>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Giải thuật ACO</a:t>
            </a:r>
            <a:endParaRPr dirty="0"/>
          </a:p>
        </p:txBody>
      </p:sp>
      <p:sp>
        <p:nvSpPr>
          <p:cNvPr id="4" name="Rectangle 1">
            <a:extLst>
              <a:ext uri="{FF2B5EF4-FFF2-40B4-BE49-F238E27FC236}">
                <a16:creationId xmlns:a16="http://schemas.microsoft.com/office/drawing/2014/main" id="{8CC4A77F-8C45-B0B5-F7FC-60FE01DA919F}"/>
              </a:ext>
            </a:extLst>
          </p:cNvPr>
          <p:cNvSpPr>
            <a:spLocks noGrp="1" noChangeArrowheads="1"/>
          </p:cNvSpPr>
          <p:nvPr>
            <p:ph type="body" idx="1"/>
          </p:nvPr>
        </p:nvSpPr>
        <p:spPr bwMode="auto">
          <a:xfrm>
            <a:off x="681089" y="1188622"/>
            <a:ext cx="755813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800" b="0" i="0" u="none" strike="noStrike" cap="none" normalizeH="0" baseline="0" dirty="0">
                <a:ln>
                  <a:noFill/>
                </a:ln>
                <a:solidFill>
                  <a:schemeClr val="tx1"/>
                </a:solidFill>
                <a:effectLst/>
                <a:latin typeface="Arial" panose="020B0604020202020204" pitchFamily="34" charset="0"/>
              </a:rPr>
              <a:t>- Trong hành trình của mỗi con kiến, nó sẽ lựa chọn điểm tiếp theo để đến với xác xuất cho mỗi điểm là:</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0C51969-ABEC-E6C4-BD92-ECD8FF36CCE5}"/>
                  </a:ext>
                </a:extLst>
              </p:cNvPr>
              <p:cNvSpPr txBox="1"/>
              <p:nvPr/>
            </p:nvSpPr>
            <p:spPr>
              <a:xfrm>
                <a:off x="1424538" y="1834953"/>
                <a:ext cx="5920474" cy="354071"/>
              </a:xfrm>
              <a:prstGeom prst="rect">
                <a:avLst/>
              </a:prstGeom>
              <a:noFill/>
            </p:spPr>
            <p:txBody>
              <a:bodyPr wrap="square" lIns="0" tIns="0" rIns="0" bIns="0" rtlCol="0">
                <a:spAutoFit/>
              </a:bodyPr>
              <a:lstStyle/>
              <a:p>
                <a:r>
                  <a:rPr lang="vi-VN" sz="2000" dirty="0"/>
                  <a:t>P</a:t>
                </a:r>
                <a14:m>
                  <m:oMath xmlns:m="http://schemas.openxmlformats.org/officeDocument/2006/math">
                    <m:r>
                      <a:rPr lang="vi-VN" sz="2000" b="0" i="0" smtClean="0">
                        <a:latin typeface="Cambria Math" panose="02040503050406030204" pitchFamily="18" charset="0"/>
                      </a:rPr>
                      <m:t> = </m:t>
                    </m:r>
                    <m:sSup>
                      <m:sSupPr>
                        <m:ctrlPr>
                          <a:rPr lang="vi-VN" sz="2000" i="1" smtClean="0">
                            <a:latin typeface="Cambria Math" panose="02040503050406030204" pitchFamily="18" charset="0"/>
                          </a:rPr>
                        </m:ctrlPr>
                      </m:sSupPr>
                      <m:e>
                        <m:r>
                          <a:rPr lang="vi-VN" sz="2000" b="0" i="1" smtClean="0">
                            <a:latin typeface="Cambria Math" panose="02040503050406030204" pitchFamily="18" charset="0"/>
                          </a:rPr>
                          <m:t>(</m:t>
                        </m:r>
                        <m:sSub>
                          <m:sSubPr>
                            <m:ctrlPr>
                              <a:rPr lang="vi-VN" sz="2000" i="1">
                                <a:latin typeface="Cambria Math" panose="02040503050406030204" pitchFamily="18" charset="0"/>
                              </a:rPr>
                            </m:ctrlPr>
                          </m:sSubPr>
                          <m:e>
                            <m:r>
                              <m:rPr>
                                <m:sty m:val="p"/>
                              </m:rPr>
                              <a:rPr lang="el-GR" sz="2000" i="1">
                                <a:latin typeface="Cambria Math" panose="02040503050406030204" pitchFamily="18" charset="0"/>
                              </a:rPr>
                              <m:t>τ</m:t>
                            </m:r>
                          </m:e>
                          <m:sub>
                            <m:r>
                              <a:rPr lang="vi-VN" sz="2000" i="1">
                                <a:latin typeface="Cambria Math" panose="02040503050406030204" pitchFamily="18" charset="0"/>
                              </a:rPr>
                              <m:t>𝑖𝑗</m:t>
                            </m:r>
                          </m:sub>
                        </m:sSub>
                        <m:r>
                          <a:rPr lang="vi-VN" sz="2000" b="0" i="1" smtClean="0">
                            <a:latin typeface="Cambria Math" panose="02040503050406030204" pitchFamily="18" charset="0"/>
                          </a:rPr>
                          <m:t>)</m:t>
                        </m:r>
                      </m:e>
                      <m:sup>
                        <m:r>
                          <m:rPr>
                            <m:sty m:val="p"/>
                          </m:rPr>
                          <a:rPr lang="el-GR" sz="2000" i="1" smtClean="0">
                            <a:latin typeface="Cambria Math" panose="02040503050406030204" pitchFamily="18" charset="0"/>
                          </a:rPr>
                          <m:t>α</m:t>
                        </m:r>
                      </m:sup>
                    </m:sSup>
                  </m:oMath>
                </a14:m>
                <a:r>
                  <a:rPr lang="vi-VN" sz="2000" dirty="0"/>
                  <a:t> * </a:t>
                </a:r>
                <a14:m>
                  <m:oMath xmlns:m="http://schemas.openxmlformats.org/officeDocument/2006/math">
                    <m:sSup>
                      <m:sSupPr>
                        <m:ctrlPr>
                          <a:rPr lang="vi-VN" sz="2000" i="1" smtClean="0">
                            <a:latin typeface="Cambria Math" panose="02040503050406030204" pitchFamily="18" charset="0"/>
                          </a:rPr>
                        </m:ctrlPr>
                      </m:sSupPr>
                      <m:e>
                        <m:r>
                          <a:rPr lang="vi-VN" sz="2000" i="1">
                            <a:latin typeface="Cambria Math" panose="02040503050406030204" pitchFamily="18" charset="0"/>
                          </a:rPr>
                          <m:t>(</m:t>
                        </m:r>
                        <m:sSub>
                          <m:sSubPr>
                            <m:ctrlPr>
                              <a:rPr lang="vi-VN" sz="2000" i="1" smtClean="0">
                                <a:latin typeface="Cambria Math" panose="02040503050406030204" pitchFamily="18" charset="0"/>
                              </a:rPr>
                            </m:ctrlPr>
                          </m:sSubPr>
                          <m:e>
                            <m:r>
                              <m:rPr>
                                <m:sty m:val="p"/>
                              </m:rPr>
                              <a:rPr lang="el-GR" sz="2000" i="1">
                                <a:latin typeface="Cambria Math" panose="02040503050406030204" pitchFamily="18" charset="0"/>
                              </a:rPr>
                              <m:t>η</m:t>
                            </m:r>
                          </m:e>
                          <m:sub>
                            <m:r>
                              <a:rPr lang="vi-VN" sz="2000" i="1">
                                <a:latin typeface="Cambria Math" panose="02040503050406030204" pitchFamily="18" charset="0"/>
                              </a:rPr>
                              <m:t>𝑖𝑗</m:t>
                            </m:r>
                          </m:sub>
                        </m:sSub>
                        <m:r>
                          <a:rPr lang="vi-VN" sz="2000" i="1">
                            <a:latin typeface="Cambria Math" panose="02040503050406030204" pitchFamily="18" charset="0"/>
                          </a:rPr>
                          <m:t>)</m:t>
                        </m:r>
                      </m:e>
                      <m:sup>
                        <m:r>
                          <a:rPr lang="el-GR" sz="2000" i="1" smtClean="0">
                            <a:latin typeface="Cambria Math" panose="02040503050406030204" pitchFamily="18" charset="0"/>
                            <a:ea typeface="Cambria Math" panose="02040503050406030204" pitchFamily="18" charset="0"/>
                          </a:rPr>
                          <m:t>𝛽</m:t>
                        </m:r>
                      </m:sup>
                    </m:sSup>
                  </m:oMath>
                </a14:m>
                <a:r>
                  <a:rPr lang="vi-VN" sz="2000" dirty="0"/>
                  <a:t> </a:t>
                </a:r>
                <a:endParaRPr lang="en-US" sz="2000" dirty="0"/>
              </a:p>
            </p:txBody>
          </p:sp>
        </mc:Choice>
        <mc:Fallback>
          <p:sp>
            <p:nvSpPr>
              <p:cNvPr id="6" name="TextBox 5">
                <a:extLst>
                  <a:ext uri="{FF2B5EF4-FFF2-40B4-BE49-F238E27FC236}">
                    <a16:creationId xmlns:a16="http://schemas.microsoft.com/office/drawing/2014/main" id="{B0C51969-ABEC-E6C4-BD92-ECD8FF36CCE5}"/>
                  </a:ext>
                </a:extLst>
              </p:cNvPr>
              <p:cNvSpPr txBox="1">
                <a:spLocks noRot="1" noChangeAspect="1" noMove="1" noResize="1" noEditPoints="1" noAdjustHandles="1" noChangeArrowheads="1" noChangeShapeType="1" noTextEdit="1"/>
              </p:cNvSpPr>
              <p:nvPr/>
            </p:nvSpPr>
            <p:spPr>
              <a:xfrm>
                <a:off x="1424538" y="1834953"/>
                <a:ext cx="5920474" cy="354071"/>
              </a:xfrm>
              <a:prstGeom prst="rect">
                <a:avLst/>
              </a:prstGeom>
              <a:blipFill>
                <a:blip r:embed="rId3"/>
                <a:stretch>
                  <a:fillRect l="-2678" t="-17241" b="-3620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2AAE6322-8239-758C-926B-4BC46B625DC1}"/>
                  </a:ext>
                </a:extLst>
              </p:cNvPr>
              <p:cNvSpPr txBox="1"/>
              <p:nvPr/>
            </p:nvSpPr>
            <p:spPr>
              <a:xfrm>
                <a:off x="1314450" y="2189024"/>
                <a:ext cx="3771899" cy="2281394"/>
              </a:xfrm>
              <a:prstGeom prst="rect">
                <a:avLst/>
              </a:prstGeom>
              <a:noFill/>
            </p:spPr>
            <p:txBody>
              <a:bodyPr wrap="square" rtlCol="0">
                <a:spAutoFit/>
              </a:bodyPr>
              <a:lstStyle/>
              <a:p>
                <a:r>
                  <a:rPr lang="vi-VN" dirty="0"/>
                  <a:t>Trong đó:</a:t>
                </a:r>
              </a:p>
              <a:p>
                <a:r>
                  <a:rPr lang="vi-VN" dirty="0"/>
                  <a:t>   </a:t>
                </a:r>
                <a14:m>
                  <m:oMath xmlns:m="http://schemas.openxmlformats.org/officeDocument/2006/math">
                    <m:sSub>
                      <m:sSubPr>
                        <m:ctrlPr>
                          <a:rPr lang="vi-VN" i="1">
                            <a:latin typeface="Cambria Math" panose="02040503050406030204" pitchFamily="18" charset="0"/>
                          </a:rPr>
                        </m:ctrlPr>
                      </m:sSubPr>
                      <m:e>
                        <m:r>
                          <m:rPr>
                            <m:sty m:val="p"/>
                          </m:rPr>
                          <a:rPr lang="el-GR" i="1">
                            <a:latin typeface="Cambria Math" panose="02040503050406030204" pitchFamily="18" charset="0"/>
                          </a:rPr>
                          <m:t>η</m:t>
                        </m:r>
                      </m:e>
                      <m:sub>
                        <m:r>
                          <a:rPr lang="vi-VN" i="1">
                            <a:latin typeface="Cambria Math" panose="02040503050406030204" pitchFamily="18" charset="0"/>
                          </a:rPr>
                          <m:t>𝑖𝑗</m:t>
                        </m:r>
                      </m:sub>
                    </m:sSub>
                    <m:r>
                      <a:rPr lang="vi-VN" b="0" i="1" smtClean="0">
                        <a:latin typeface="Cambria Math" panose="02040503050406030204" pitchFamily="18" charset="0"/>
                      </a:rPr>
                      <m:t> : </m:t>
                    </m:r>
                  </m:oMath>
                </a14:m>
                <a:r>
                  <a:rPr lang="vi-VN" dirty="0"/>
                  <a:t>là chỉ số heuristic tính trên cạnh (i,j) (đánh giá kinh nghiệm)</a:t>
                </a:r>
              </a:p>
              <a:p>
                <a14:m>
                  <m:oMath xmlns:m="http://schemas.openxmlformats.org/officeDocument/2006/math">
                    <m:sSub>
                      <m:sSubPr>
                        <m:ctrlPr>
                          <a:rPr lang="vi-VN" i="1">
                            <a:latin typeface="Cambria Math" panose="02040503050406030204" pitchFamily="18" charset="0"/>
                          </a:rPr>
                        </m:ctrlPr>
                      </m:sSubPr>
                      <m:e>
                        <m:r>
                          <a:rPr lang="vi-VN" b="0" i="1" smtClean="0">
                            <a:latin typeface="Cambria Math" panose="02040503050406030204" pitchFamily="18" charset="0"/>
                          </a:rPr>
                          <m:t>   </m:t>
                        </m:r>
                        <m:r>
                          <m:rPr>
                            <m:sty m:val="p"/>
                          </m:rPr>
                          <a:rPr lang="el-GR" i="1">
                            <a:latin typeface="Cambria Math" panose="02040503050406030204" pitchFamily="18" charset="0"/>
                          </a:rPr>
                          <m:t>τ</m:t>
                        </m:r>
                      </m:e>
                      <m:sub>
                        <m:r>
                          <a:rPr lang="vi-VN" i="1">
                            <a:latin typeface="Cambria Math" panose="02040503050406030204" pitchFamily="18" charset="0"/>
                          </a:rPr>
                          <m:t>𝑖𝑗</m:t>
                        </m:r>
                      </m:sub>
                    </m:sSub>
                  </m:oMath>
                </a14:m>
                <a:r>
                  <a:rPr lang="vi-VN" dirty="0"/>
                  <a:t> : là tổng số pheromone mà những con kiến để lại trên cạnh (i,j) (mức độ xuất hiện)</a:t>
                </a:r>
              </a:p>
              <a:p>
                <a:r>
                  <a:rPr lang="vi-VN" dirty="0"/>
                  <a:t>   </a:t>
                </a:r>
                <a:r>
                  <a:rPr lang="en-US" dirty="0"/>
                  <a:t>𝛼</a:t>
                </a:r>
                <a:r>
                  <a:rPr lang="vi-VN" dirty="0"/>
                  <a:t> và </a:t>
                </a:r>
                <a:r>
                  <a:rPr lang="en-US" dirty="0"/>
                  <a:t>𝛽</a:t>
                </a:r>
                <a:r>
                  <a:rPr lang="vi-VN" dirty="0"/>
                  <a:t> là tham số thuật toán</a:t>
                </a:r>
              </a:p>
              <a:p>
                <a:r>
                  <a:rPr lang="vi-VN" dirty="0"/>
                  <a:t>Nếu </a:t>
                </a:r>
                <a:r>
                  <a:rPr lang="en-US" dirty="0"/>
                  <a:t>𝛼</a:t>
                </a:r>
                <a:r>
                  <a:rPr lang="vi-VN" dirty="0"/>
                  <a:t> = 0: Các cạnh trên đường đi được lựa chọn tham lam theo kinh nghiệm</a:t>
                </a:r>
              </a:p>
              <a:p>
                <a:r>
                  <a:rPr lang="vi-VN" dirty="0"/>
                  <a:t>Nếu </a:t>
                </a:r>
                <a:r>
                  <a:rPr lang="en-US" dirty="0"/>
                  <a:t>𝛽</a:t>
                </a:r>
                <a:r>
                  <a:rPr lang="vi-VN" dirty="0"/>
                  <a:t> = 0: Ưu tiên các cạnh có xu hướng xuất hiện nhiều nhất trước đó</a:t>
                </a:r>
                <a:endParaRPr lang="en-US" dirty="0"/>
              </a:p>
            </p:txBody>
          </p:sp>
        </mc:Choice>
        <mc:Fallback>
          <p:sp>
            <p:nvSpPr>
              <p:cNvPr id="8" name="TextBox 7">
                <a:extLst>
                  <a:ext uri="{FF2B5EF4-FFF2-40B4-BE49-F238E27FC236}">
                    <a16:creationId xmlns:a16="http://schemas.microsoft.com/office/drawing/2014/main" id="{2AAE6322-8239-758C-926B-4BC46B625DC1}"/>
                  </a:ext>
                </a:extLst>
              </p:cNvPr>
              <p:cNvSpPr txBox="1">
                <a:spLocks noRot="1" noChangeAspect="1" noMove="1" noResize="1" noEditPoints="1" noAdjustHandles="1" noChangeArrowheads="1" noChangeShapeType="1" noTextEdit="1"/>
              </p:cNvSpPr>
              <p:nvPr/>
            </p:nvSpPr>
            <p:spPr>
              <a:xfrm>
                <a:off x="1314450" y="2189024"/>
                <a:ext cx="3771899" cy="2281394"/>
              </a:xfrm>
              <a:prstGeom prst="rect">
                <a:avLst/>
              </a:prstGeom>
              <a:blipFill>
                <a:blip r:embed="rId4"/>
                <a:stretch>
                  <a:fillRect l="-485" t="-535" r="-324" b="-2139"/>
                </a:stretch>
              </a:blipFill>
            </p:spPr>
            <p:txBody>
              <a:bodyPr/>
              <a:lstStyle/>
              <a:p>
                <a:r>
                  <a:rPr lang="en-US">
                    <a:noFill/>
                  </a:rPr>
                  <a:t> </a:t>
                </a:r>
              </a:p>
            </p:txBody>
          </p:sp>
        </mc:Fallback>
      </mc:AlternateContent>
      <p:pic>
        <p:nvPicPr>
          <p:cNvPr id="11" name="Picture 10" descr="A screen shot of a computer&#10;&#10;AI-generated content may be incorrect.">
            <a:extLst>
              <a:ext uri="{FF2B5EF4-FFF2-40B4-BE49-F238E27FC236}">
                <a16:creationId xmlns:a16="http://schemas.microsoft.com/office/drawing/2014/main" id="{54DEBFBE-06CC-597F-B88C-755F0483FDD7}"/>
              </a:ext>
            </a:extLst>
          </p:cNvPr>
          <p:cNvPicPr>
            <a:picLocks noChangeAspect="1"/>
          </p:cNvPicPr>
          <p:nvPr/>
        </p:nvPicPr>
        <p:blipFill>
          <a:blip r:embed="rId5"/>
          <a:stretch>
            <a:fillRect/>
          </a:stretch>
        </p:blipFill>
        <p:spPr>
          <a:xfrm>
            <a:off x="5257799" y="2327789"/>
            <a:ext cx="3546184" cy="1295721"/>
          </a:xfrm>
          <a:prstGeom prst="rect">
            <a:avLst/>
          </a:prstGeom>
        </p:spPr>
      </p:pic>
    </p:spTree>
    <p:extLst>
      <p:ext uri="{BB962C8B-B14F-4D97-AF65-F5344CB8AC3E}">
        <p14:creationId xmlns:p14="http://schemas.microsoft.com/office/powerpoint/2010/main" val="3718633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7B0A5079-DC6B-5E25-E20B-8E8EE08CC8C8}"/>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D64800DF-9CC9-3E5B-3901-72C12642E0AA}"/>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16</a:t>
            </a:fld>
            <a:endParaRPr/>
          </a:p>
        </p:txBody>
      </p:sp>
      <p:sp>
        <p:nvSpPr>
          <p:cNvPr id="78" name="Google Shape;78;p4">
            <a:extLst>
              <a:ext uri="{FF2B5EF4-FFF2-40B4-BE49-F238E27FC236}">
                <a16:creationId xmlns:a16="http://schemas.microsoft.com/office/drawing/2014/main" id="{AB72D4D3-969A-6DA0-6ABA-17BB7297D90C}"/>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Giải thuật ACO</a:t>
            </a:r>
            <a:endParaRPr dirty="0"/>
          </a:p>
        </p:txBody>
      </p:sp>
      <p:sp>
        <p:nvSpPr>
          <p:cNvPr id="2" name="Text Placeholder 1">
            <a:extLst>
              <a:ext uri="{FF2B5EF4-FFF2-40B4-BE49-F238E27FC236}">
                <a16:creationId xmlns:a16="http://schemas.microsoft.com/office/drawing/2014/main" id="{5E4BD733-E9C7-B430-C68D-D6CAB1C02DC7}"/>
              </a:ext>
            </a:extLst>
          </p:cNvPr>
          <p:cNvSpPr>
            <a:spLocks noGrp="1" noChangeArrowheads="1"/>
          </p:cNvSpPr>
          <p:nvPr>
            <p:ph type="body" idx="1"/>
          </p:nvPr>
        </p:nvSpPr>
        <p:spPr bwMode="auto">
          <a:xfrm>
            <a:off x="777290" y="786450"/>
            <a:ext cx="6610099" cy="4539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vi-VN" altLang="en-US" sz="1800" b="0" i="0" u="none" strike="noStrike" cap="none" normalizeH="0" baseline="0" dirty="0">
                <a:ln>
                  <a:noFill/>
                </a:ln>
                <a:solidFill>
                  <a:schemeClr val="tx1"/>
                </a:solidFill>
                <a:effectLst/>
                <a:latin typeface="Arial" panose="020B0604020202020204" pitchFamily="34" charset="0"/>
              </a:rPr>
              <a:t>Các chiến thuật(mode):</a:t>
            </a:r>
          </a:p>
          <a:p>
            <a:pPr marL="285750" marR="0" lvl="0" indent="-285750" algn="l" defTabSz="914400" rtl="0" eaLnBrk="0" fontAlgn="base" latinLnBrk="0" hangingPunct="0">
              <a:lnSpc>
                <a:spcPct val="100000"/>
              </a:lnSpc>
              <a:spcBef>
                <a:spcPct val="0"/>
              </a:spcBef>
              <a:spcAft>
                <a:spcPct val="0"/>
              </a:spcAft>
              <a:buClrTx/>
              <a:buSzTx/>
              <a:buFontTx/>
              <a:buChar char="-"/>
              <a:tabLst/>
            </a:pPr>
            <a:r>
              <a:rPr lang="vi-VN" altLang="en-US" sz="1800" dirty="0">
                <a:solidFill>
                  <a:schemeClr val="tx1"/>
                </a:solidFill>
                <a:latin typeface="Arial" panose="020B0604020202020204" pitchFamily="34" charset="0"/>
              </a:rPr>
              <a:t>ACS (Ant Colony System): </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Mỗi vòng lặp cho tất cả kiến đi tìm đường -&gt; tính cost -&gt; rải mùi trên đường đi của từng con</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Sau đó: bay hơi toàn bộ ma trận pheromone theo hệ số bay hơi (evapoation)</a:t>
            </a:r>
          </a:p>
          <a:p>
            <a:pPr marL="285750" indent="-285750" eaLnBrk="0" fontAlgn="base" hangingPunct="0">
              <a:lnSpc>
                <a:spcPct val="100000"/>
              </a:lnSpc>
              <a:spcBef>
                <a:spcPct val="0"/>
              </a:spcBef>
              <a:spcAft>
                <a:spcPct val="0"/>
              </a:spcAft>
              <a:buClrTx/>
              <a:buSzTx/>
              <a:buFontTx/>
              <a:buChar char="-"/>
            </a:pPr>
            <a:r>
              <a:rPr lang="vi-VN" altLang="en-US" sz="1800" dirty="0">
                <a:solidFill>
                  <a:schemeClr val="tx1"/>
                </a:solidFill>
                <a:latin typeface="Arial" panose="020B0604020202020204" pitchFamily="34" charset="0"/>
              </a:rPr>
              <a:t>Elitist (Kiến tinh anh)</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Giống ACS nhưng thêm pheromone cho đường tốt nhất toàn cục với một hệ số tinh anh (elitist_weight)</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Điều này giúp thuật toán hội tụ nhanh hơn về giải pháp tốt nhất đã biết</a:t>
            </a:r>
          </a:p>
          <a:p>
            <a:pPr marL="285750" indent="-285750" eaLnBrk="0" fontAlgn="base" hangingPunct="0">
              <a:lnSpc>
                <a:spcPct val="100000"/>
              </a:lnSpc>
              <a:spcBef>
                <a:spcPct val="0"/>
              </a:spcBef>
              <a:spcAft>
                <a:spcPct val="0"/>
              </a:spcAft>
              <a:buClrTx/>
              <a:buSzTx/>
              <a:buFontTx/>
              <a:buChar char="-"/>
            </a:pPr>
            <a:r>
              <a:rPr lang="vi-VN" altLang="en-US" sz="1800" dirty="0">
                <a:solidFill>
                  <a:schemeClr val="tx1"/>
                </a:solidFill>
                <a:latin typeface="Arial" panose="020B0604020202020204" pitchFamily="34" charset="0"/>
              </a:rPr>
              <a:t>Max-Min</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Khắc phục nhược điểm hội tụ quá sớm của Elitist</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Giới hạn pheromone: giới hạn pheromone trên một cạnh với max_pheromone và min_pheromone</a:t>
            </a:r>
          </a:p>
          <a:p>
            <a:pPr marL="742950" lvl="1" indent="-285750" eaLnBrk="0" fontAlgn="base" hangingPunct="0">
              <a:lnSpc>
                <a:spcPct val="100000"/>
              </a:lnSpc>
              <a:spcBef>
                <a:spcPct val="0"/>
              </a:spcBef>
              <a:spcAft>
                <a:spcPct val="0"/>
              </a:spcAft>
              <a:buClrTx/>
              <a:buSzTx/>
              <a:buFontTx/>
              <a:buChar char="-"/>
            </a:pPr>
            <a:r>
              <a:rPr lang="vi-VN" altLang="en-US" sz="1400" dirty="0">
                <a:solidFill>
                  <a:schemeClr val="tx1"/>
                </a:solidFill>
                <a:latin typeface="Arial" panose="020B0604020202020204" pitchFamily="34" charset="0"/>
              </a:rPr>
              <a:t>Chiến thuật cập nhật:</a:t>
            </a:r>
          </a:p>
          <a:p>
            <a:pPr marL="1200150" lvl="2" indent="-285750" eaLnBrk="0" fontAlgn="base" hangingPunct="0">
              <a:lnSpc>
                <a:spcPct val="100000"/>
              </a:lnSpc>
              <a:spcBef>
                <a:spcPct val="0"/>
              </a:spcBef>
              <a:spcAft>
                <a:spcPct val="0"/>
              </a:spcAft>
              <a:buClrTx/>
              <a:buSzTx/>
              <a:buFontTx/>
              <a:buChar char="-"/>
            </a:pPr>
            <a:r>
              <a:rPr lang="vi-VN" altLang="en-US" sz="1200" dirty="0">
                <a:solidFill>
                  <a:schemeClr val="tx1"/>
                </a:solidFill>
                <a:latin typeface="Arial" panose="020B0604020202020204" pitchFamily="34" charset="0"/>
              </a:rPr>
              <a:t>75% thời gian đầu: Cập nhật theo đường tốt nhất của vòng lặp hiện tại (iteration best) để khám phá đa dạng</a:t>
            </a:r>
          </a:p>
          <a:p>
            <a:pPr marL="1200150" lvl="2" indent="-285750" eaLnBrk="0" fontAlgn="base" hangingPunct="0">
              <a:lnSpc>
                <a:spcPct val="100000"/>
              </a:lnSpc>
              <a:spcBef>
                <a:spcPct val="0"/>
              </a:spcBef>
              <a:spcAft>
                <a:spcPct val="0"/>
              </a:spcAft>
              <a:buClrTx/>
              <a:buSzTx/>
              <a:buFontTx/>
              <a:buChar char="-"/>
            </a:pPr>
            <a:r>
              <a:rPr lang="vi-VN" altLang="en-US" sz="1200" dirty="0">
                <a:solidFill>
                  <a:schemeClr val="tx1"/>
                </a:solidFill>
                <a:latin typeface="Arial" panose="020B0604020202020204" pitchFamily="34" charset="0"/>
              </a:rPr>
              <a:t>25% thời gian cuối: Cập nhật theo đường tối ưu toàn cục (global best) để hội tụ</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710284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C4A03574-06C8-5146-3603-8F04B7901229}"/>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A49FC15F-AC97-369D-A2F1-0709976ED674}"/>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17</a:t>
            </a:fld>
            <a:endParaRPr/>
          </a:p>
        </p:txBody>
      </p:sp>
      <p:sp>
        <p:nvSpPr>
          <p:cNvPr id="78" name="Google Shape;78;p4">
            <a:extLst>
              <a:ext uri="{FF2B5EF4-FFF2-40B4-BE49-F238E27FC236}">
                <a16:creationId xmlns:a16="http://schemas.microsoft.com/office/drawing/2014/main" id="{517995A4-F4AC-B9F6-E231-2D49B4067A5F}"/>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So sánh kết quả</a:t>
            </a:r>
            <a:endParaRPr dirty="0"/>
          </a:p>
        </p:txBody>
      </p:sp>
      <p:sp>
        <p:nvSpPr>
          <p:cNvPr id="79" name="Google Shape;79;p4">
            <a:extLst>
              <a:ext uri="{FF2B5EF4-FFF2-40B4-BE49-F238E27FC236}">
                <a16:creationId xmlns:a16="http://schemas.microsoft.com/office/drawing/2014/main" id="{38B1499B-7922-F208-37D9-9A72661CD50D}"/>
              </a:ext>
            </a:extLst>
          </p:cNvPr>
          <p:cNvSpPr txBox="1">
            <a:spLocks noGrp="1"/>
          </p:cNvSpPr>
          <p:nvPr>
            <p:ph type="body" idx="1"/>
          </p:nvPr>
        </p:nvSpPr>
        <p:spPr>
          <a:xfrm>
            <a:off x="5077718" y="1645952"/>
            <a:ext cx="3847065" cy="3831016"/>
          </a:xfrm>
          <a:prstGeom prst="rect">
            <a:avLst/>
          </a:prstGeom>
          <a:noFill/>
          <a:ln>
            <a:noFill/>
          </a:ln>
        </p:spPr>
        <p:txBody>
          <a:bodyPr spcFirstLastPara="1" wrap="square" lIns="91425" tIns="45700" rIns="91425" bIns="45700" anchor="t" anchorCtr="0">
            <a:noAutofit/>
          </a:bodyPr>
          <a:lstStyle/>
          <a:p>
            <a:pPr marL="0" lvl="0" indent="0" rtl="0">
              <a:lnSpc>
                <a:spcPct val="90000"/>
              </a:lnSpc>
              <a:spcBef>
                <a:spcPts val="0"/>
              </a:spcBef>
              <a:spcAft>
                <a:spcPts val="0"/>
              </a:spcAft>
              <a:buClr>
                <a:schemeClr val="dk1"/>
              </a:buClr>
              <a:buSzPts val="2400"/>
              <a:buNone/>
            </a:pPr>
            <a:r>
              <a:rPr lang="vi-VN" sz="2000" dirty="0"/>
              <a:t>Kết quả travel time cho thấy:</a:t>
            </a:r>
          </a:p>
          <a:p>
            <a:pPr marL="0" lvl="0" indent="0" rtl="0">
              <a:lnSpc>
                <a:spcPct val="90000"/>
              </a:lnSpc>
              <a:spcBef>
                <a:spcPts val="0"/>
              </a:spcBef>
              <a:spcAft>
                <a:spcPts val="0"/>
              </a:spcAft>
              <a:buClr>
                <a:schemeClr val="dk1"/>
              </a:buClr>
              <a:buSzPts val="2400"/>
              <a:buNone/>
            </a:pPr>
            <a:r>
              <a:rPr lang="vi-VN" sz="2000" dirty="0"/>
              <a:t>+ Giải thuật GP: cho kết quả tối ưu ngay từ quần thể khởi tạo, thuật toán dừng do tắc nghẽn</a:t>
            </a:r>
          </a:p>
          <a:p>
            <a:pPr marL="0" lvl="0" indent="0" rtl="0">
              <a:lnSpc>
                <a:spcPct val="90000"/>
              </a:lnSpc>
              <a:spcBef>
                <a:spcPts val="0"/>
              </a:spcBef>
              <a:spcAft>
                <a:spcPts val="0"/>
              </a:spcAft>
              <a:buClr>
                <a:schemeClr val="dk1"/>
              </a:buClr>
              <a:buSzPts val="2400"/>
              <a:buNone/>
            </a:pPr>
            <a:r>
              <a:rPr lang="vi-VN" sz="2000" dirty="0"/>
              <a:t>+ Giải thuật GA: ban đầu travel time nhỏ nhưng vi phạm ràng buộc time windows nhiều, quần thể cải thiện dần số vi phạm nên thời travel time tăng lên, về sau quần thể dần hội tụ</a:t>
            </a:r>
          </a:p>
          <a:p>
            <a:pPr marL="0" lvl="0" indent="0" rtl="0">
              <a:lnSpc>
                <a:spcPct val="90000"/>
              </a:lnSpc>
              <a:spcBef>
                <a:spcPts val="0"/>
              </a:spcBef>
              <a:spcAft>
                <a:spcPts val="0"/>
              </a:spcAft>
              <a:buClr>
                <a:schemeClr val="dk1"/>
              </a:buClr>
              <a:buSzPts val="2400"/>
              <a:buNone/>
            </a:pPr>
            <a:r>
              <a:rPr lang="vi-VN" sz="2000" dirty="0"/>
              <a:t>+ Giải thuật GA-MOO: travel time rất nhỏ do vi phạm ràng buộc nhiều, mà so với lời giải tối ưu thì không trội nhau nên quần thể khó tìm được lời giải tối ưu</a:t>
            </a:r>
          </a:p>
          <a:p>
            <a:pPr marL="0" lvl="0" indent="0" rtl="0">
              <a:lnSpc>
                <a:spcPct val="90000"/>
              </a:lnSpc>
              <a:spcBef>
                <a:spcPts val="0"/>
              </a:spcBef>
              <a:spcAft>
                <a:spcPts val="0"/>
              </a:spcAft>
              <a:buClr>
                <a:schemeClr val="dk1"/>
              </a:buClr>
              <a:buSzPts val="2400"/>
              <a:buNone/>
            </a:pPr>
            <a:r>
              <a:rPr lang="vi-VN" sz="2000" dirty="0"/>
              <a:t> </a:t>
            </a:r>
            <a:endParaRPr sz="2000" dirty="0"/>
          </a:p>
        </p:txBody>
      </p:sp>
      <p:pic>
        <p:nvPicPr>
          <p:cNvPr id="4" name="Picture 3" descr="A graph with a line graph&#10;&#10;AI-generated content may be incorrect.">
            <a:extLst>
              <a:ext uri="{FF2B5EF4-FFF2-40B4-BE49-F238E27FC236}">
                <a16:creationId xmlns:a16="http://schemas.microsoft.com/office/drawing/2014/main" id="{B64668F0-97F1-B237-588F-BC1FAEA20243}"/>
              </a:ext>
            </a:extLst>
          </p:cNvPr>
          <p:cNvPicPr>
            <a:picLocks noChangeAspect="1"/>
          </p:cNvPicPr>
          <p:nvPr/>
        </p:nvPicPr>
        <p:blipFill>
          <a:blip r:embed="rId3"/>
          <a:stretch>
            <a:fillRect/>
          </a:stretch>
        </p:blipFill>
        <p:spPr>
          <a:xfrm>
            <a:off x="235077" y="2002482"/>
            <a:ext cx="4585676" cy="3117956"/>
          </a:xfrm>
          <a:prstGeom prst="rect">
            <a:avLst/>
          </a:prstGeom>
        </p:spPr>
      </p:pic>
      <p:sp>
        <p:nvSpPr>
          <p:cNvPr id="5" name="TextBox 4">
            <a:extLst>
              <a:ext uri="{FF2B5EF4-FFF2-40B4-BE49-F238E27FC236}">
                <a16:creationId xmlns:a16="http://schemas.microsoft.com/office/drawing/2014/main" id="{97DA1E77-D623-681F-8837-1283EF3A83F6}"/>
              </a:ext>
            </a:extLst>
          </p:cNvPr>
          <p:cNvSpPr txBox="1"/>
          <p:nvPr/>
        </p:nvSpPr>
        <p:spPr>
          <a:xfrm>
            <a:off x="137106" y="1381032"/>
            <a:ext cx="5116651" cy="338554"/>
          </a:xfrm>
          <a:prstGeom prst="rect">
            <a:avLst/>
          </a:prstGeom>
          <a:noFill/>
        </p:spPr>
        <p:txBody>
          <a:bodyPr wrap="square" rtlCol="0">
            <a:spAutoFit/>
          </a:bodyPr>
          <a:lstStyle/>
          <a:p>
            <a:r>
              <a:rPr lang="vi-VN" sz="1600" b="1" dirty="0"/>
              <a:t>Bộ dữ liệu tsp time window 200 request</a:t>
            </a:r>
            <a:endParaRPr lang="en-US" sz="1600" b="1" dirty="0"/>
          </a:p>
        </p:txBody>
      </p:sp>
      <p:sp>
        <p:nvSpPr>
          <p:cNvPr id="6" name="TextBox 5">
            <a:extLst>
              <a:ext uri="{FF2B5EF4-FFF2-40B4-BE49-F238E27FC236}">
                <a16:creationId xmlns:a16="http://schemas.microsoft.com/office/drawing/2014/main" id="{3C9C1FBF-9909-6894-4DE1-EEB8F39E4E8B}"/>
              </a:ext>
            </a:extLst>
          </p:cNvPr>
          <p:cNvSpPr txBox="1"/>
          <p:nvPr/>
        </p:nvSpPr>
        <p:spPr>
          <a:xfrm>
            <a:off x="235077" y="956733"/>
            <a:ext cx="3655168" cy="707886"/>
          </a:xfrm>
          <a:prstGeom prst="rect">
            <a:avLst/>
          </a:prstGeom>
          <a:noFill/>
        </p:spPr>
        <p:txBody>
          <a:bodyPr wrap="square" rtlCol="0">
            <a:spAutoFit/>
          </a:bodyPr>
          <a:lstStyle/>
          <a:p>
            <a:r>
              <a:rPr lang="vi-VN" sz="2000" b="1" dirty="0"/>
              <a:t>1. So sánh GA, GP, GA-MOO</a:t>
            </a:r>
            <a:br>
              <a:rPr lang="vi-VN" sz="2000" b="1" dirty="0"/>
            </a:br>
            <a:endParaRPr lang="en-US" sz="2000" b="1" dirty="0"/>
          </a:p>
        </p:txBody>
      </p:sp>
    </p:spTree>
    <p:extLst>
      <p:ext uri="{BB962C8B-B14F-4D97-AF65-F5344CB8AC3E}">
        <p14:creationId xmlns:p14="http://schemas.microsoft.com/office/powerpoint/2010/main" val="2865710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6">
          <a:extLst>
            <a:ext uri="{FF2B5EF4-FFF2-40B4-BE49-F238E27FC236}">
              <a16:creationId xmlns:a16="http://schemas.microsoft.com/office/drawing/2014/main" id="{D1CC6CFE-AE51-75F0-8F54-107A3D3EF048}"/>
            </a:ext>
          </a:extLst>
        </p:cNvPr>
        <p:cNvGrpSpPr/>
        <p:nvPr/>
      </p:nvGrpSpPr>
      <p:grpSpPr>
        <a:xfrm>
          <a:off x="0" y="0"/>
          <a:ext cx="0" cy="0"/>
          <a:chOff x="0" y="0"/>
          <a:chExt cx="0" cy="0"/>
        </a:xfrm>
      </p:grpSpPr>
      <p:sp>
        <p:nvSpPr>
          <p:cNvPr id="77" name="Google Shape;77;p4">
            <a:extLst>
              <a:ext uri="{FF2B5EF4-FFF2-40B4-BE49-F238E27FC236}">
                <a16:creationId xmlns:a16="http://schemas.microsoft.com/office/drawing/2014/main" id="{F06A793B-26C4-C25B-1C7A-0B24FE1B007B}"/>
              </a:ext>
            </a:extLst>
          </p:cNvPr>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18</a:t>
            </a:fld>
            <a:endParaRPr/>
          </a:p>
        </p:txBody>
      </p:sp>
      <p:sp>
        <p:nvSpPr>
          <p:cNvPr id="78" name="Google Shape;78;p4">
            <a:extLst>
              <a:ext uri="{FF2B5EF4-FFF2-40B4-BE49-F238E27FC236}">
                <a16:creationId xmlns:a16="http://schemas.microsoft.com/office/drawing/2014/main" id="{4DA2CE2A-3948-0A92-CFC8-689FA2877B02}"/>
              </a:ext>
            </a:extLst>
          </p:cNvPr>
          <p:cNvSpPr txBox="1">
            <a:spLocks noGrp="1"/>
          </p:cNvSpPr>
          <p:nvPr>
            <p:ph type="title"/>
          </p:nvPr>
        </p:nvSpPr>
        <p:spPr>
          <a:xfrm>
            <a:off x="235077" y="107489"/>
            <a:ext cx="8673846" cy="451739"/>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So sánh kết quả</a:t>
            </a:r>
            <a:endParaRPr dirty="0"/>
          </a:p>
        </p:txBody>
      </p:sp>
      <p:sp>
        <p:nvSpPr>
          <p:cNvPr id="79" name="Google Shape;79;p4">
            <a:extLst>
              <a:ext uri="{FF2B5EF4-FFF2-40B4-BE49-F238E27FC236}">
                <a16:creationId xmlns:a16="http://schemas.microsoft.com/office/drawing/2014/main" id="{DA7C26E5-EE87-9163-5097-A7E1AA35D989}"/>
              </a:ext>
            </a:extLst>
          </p:cNvPr>
          <p:cNvSpPr txBox="1">
            <a:spLocks noGrp="1"/>
          </p:cNvSpPr>
          <p:nvPr>
            <p:ph type="body" idx="1"/>
          </p:nvPr>
        </p:nvSpPr>
        <p:spPr>
          <a:xfrm>
            <a:off x="5077718" y="1645952"/>
            <a:ext cx="3847065" cy="3831016"/>
          </a:xfrm>
          <a:prstGeom prst="rect">
            <a:avLst/>
          </a:prstGeom>
          <a:noFill/>
          <a:ln>
            <a:noFill/>
          </a:ln>
        </p:spPr>
        <p:txBody>
          <a:bodyPr spcFirstLastPara="1" wrap="square" lIns="91425" tIns="45700" rIns="91425" bIns="45700" anchor="t" anchorCtr="0">
            <a:noAutofit/>
          </a:bodyPr>
          <a:lstStyle/>
          <a:p>
            <a:pPr marL="0" lvl="0" indent="0">
              <a:spcBef>
                <a:spcPts val="0"/>
              </a:spcBef>
              <a:buSzPts val="2400"/>
              <a:buNone/>
            </a:pPr>
            <a:r>
              <a:rPr lang="vi-VN" sz="2000" dirty="0"/>
              <a:t>+ Theo thứ tự tối ưu: ACS &lt; Elitist &lt; MaxMin</a:t>
            </a:r>
          </a:p>
          <a:p>
            <a:pPr marL="0" lvl="0" indent="0">
              <a:spcBef>
                <a:spcPts val="0"/>
              </a:spcBef>
              <a:buSzPts val="2400"/>
              <a:buNone/>
            </a:pPr>
            <a:endParaRPr lang="vi-VN" sz="2000" dirty="0"/>
          </a:p>
          <a:p>
            <a:pPr marL="0" lvl="0" indent="0">
              <a:spcBef>
                <a:spcPts val="0"/>
              </a:spcBef>
              <a:buSzPts val="2400"/>
              <a:buNone/>
            </a:pPr>
            <a:r>
              <a:rPr lang="vi-VN" sz="2000" dirty="0"/>
              <a:t>+ Elitst: Đường tốt nhất từ đầu đến giờ được cộng thêm một lượng pheromone lớn. Điều này giúp thuật toán hội tụ nhanh hơn về phía giải pháp tốt nhất đã biết.</a:t>
            </a:r>
          </a:p>
          <a:p>
            <a:pPr marL="0" lvl="0" indent="0">
              <a:spcBef>
                <a:spcPts val="0"/>
              </a:spcBef>
              <a:buSzPts val="2400"/>
              <a:buNone/>
            </a:pPr>
            <a:endParaRPr lang="vi-VN" sz="2000" dirty="0"/>
          </a:p>
          <a:p>
            <a:pPr marL="0" lvl="0" indent="0">
              <a:spcBef>
                <a:spcPts val="0"/>
              </a:spcBef>
              <a:buSzPts val="2400"/>
              <a:buNone/>
            </a:pPr>
            <a:r>
              <a:rPr lang="vi-VN" sz="2000" dirty="0"/>
              <a:t>+ MaxMin tốt nhất khắc phục nhược điểm hội tụ quá sớm (bị kẹt ở cực trị địa phương) của Elitist.</a:t>
            </a:r>
          </a:p>
          <a:p>
            <a:pPr marL="0" lvl="0" indent="0">
              <a:spcBef>
                <a:spcPts val="0"/>
              </a:spcBef>
              <a:buSzPts val="2400"/>
              <a:buNone/>
            </a:pPr>
            <a:endParaRPr sz="2000" dirty="0"/>
          </a:p>
        </p:txBody>
      </p:sp>
      <p:pic>
        <p:nvPicPr>
          <p:cNvPr id="3" name="Picture 2" descr="A graph with a line graph&#10;&#10;AI-generated content may be incorrect.">
            <a:extLst>
              <a:ext uri="{FF2B5EF4-FFF2-40B4-BE49-F238E27FC236}">
                <a16:creationId xmlns:a16="http://schemas.microsoft.com/office/drawing/2014/main" id="{F78FC69A-4FF4-FF1C-A1F2-BA7D424FBD5E}"/>
              </a:ext>
            </a:extLst>
          </p:cNvPr>
          <p:cNvPicPr>
            <a:picLocks noChangeAspect="1"/>
          </p:cNvPicPr>
          <p:nvPr/>
        </p:nvPicPr>
        <p:blipFill>
          <a:blip r:embed="rId3"/>
          <a:stretch>
            <a:fillRect/>
          </a:stretch>
        </p:blipFill>
        <p:spPr>
          <a:xfrm>
            <a:off x="144288" y="1996420"/>
            <a:ext cx="4862690" cy="2917614"/>
          </a:xfrm>
          <a:prstGeom prst="rect">
            <a:avLst/>
          </a:prstGeom>
        </p:spPr>
      </p:pic>
      <p:sp>
        <p:nvSpPr>
          <p:cNvPr id="7" name="TextBox 6">
            <a:extLst>
              <a:ext uri="{FF2B5EF4-FFF2-40B4-BE49-F238E27FC236}">
                <a16:creationId xmlns:a16="http://schemas.microsoft.com/office/drawing/2014/main" id="{6B0877A1-372F-7AB0-A05E-D55D9E1E58DC}"/>
              </a:ext>
            </a:extLst>
          </p:cNvPr>
          <p:cNvSpPr txBox="1"/>
          <p:nvPr/>
        </p:nvSpPr>
        <p:spPr>
          <a:xfrm>
            <a:off x="235077" y="923881"/>
            <a:ext cx="5090456" cy="707886"/>
          </a:xfrm>
          <a:prstGeom prst="rect">
            <a:avLst/>
          </a:prstGeom>
          <a:noFill/>
        </p:spPr>
        <p:txBody>
          <a:bodyPr wrap="square">
            <a:spAutoFit/>
          </a:bodyPr>
          <a:lstStyle/>
          <a:p>
            <a:r>
              <a:rPr lang="vi-VN" sz="2000" b="1" dirty="0"/>
              <a:t>2. So sánh các chế độ trong ACO</a:t>
            </a:r>
            <a:br>
              <a:rPr lang="vi-VN" sz="2000" b="1" dirty="0"/>
            </a:br>
            <a:endParaRPr lang="en-US" sz="2000" b="1" dirty="0"/>
          </a:p>
        </p:txBody>
      </p:sp>
      <p:sp>
        <p:nvSpPr>
          <p:cNvPr id="8" name="TextBox 7">
            <a:extLst>
              <a:ext uri="{FF2B5EF4-FFF2-40B4-BE49-F238E27FC236}">
                <a16:creationId xmlns:a16="http://schemas.microsoft.com/office/drawing/2014/main" id="{B6F6CF52-3AD3-2BAC-5F97-247572FFE5D6}"/>
              </a:ext>
            </a:extLst>
          </p:cNvPr>
          <p:cNvSpPr txBox="1"/>
          <p:nvPr/>
        </p:nvSpPr>
        <p:spPr>
          <a:xfrm>
            <a:off x="235077" y="1473200"/>
            <a:ext cx="4023656" cy="523220"/>
          </a:xfrm>
          <a:prstGeom prst="rect">
            <a:avLst/>
          </a:prstGeom>
          <a:noFill/>
        </p:spPr>
        <p:txBody>
          <a:bodyPr wrap="square" rtlCol="0">
            <a:spAutoFit/>
          </a:bodyPr>
          <a:lstStyle/>
          <a:p>
            <a:r>
              <a:rPr lang="vi-VN" b="1" dirty="0"/>
              <a:t>Bộ dữ liệu tsp time window 200 request</a:t>
            </a:r>
            <a:endParaRPr lang="en-US" b="1" dirty="0"/>
          </a:p>
          <a:p>
            <a:endParaRPr lang="en-US" dirty="0"/>
          </a:p>
        </p:txBody>
      </p:sp>
    </p:spTree>
    <p:extLst>
      <p:ext uri="{BB962C8B-B14F-4D97-AF65-F5344CB8AC3E}">
        <p14:creationId xmlns:p14="http://schemas.microsoft.com/office/powerpoint/2010/main" val="33483219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5224314A-0D6C-EBD3-B0F1-2F1FCF2B0508}"/>
            </a:ext>
          </a:extLst>
        </p:cNvPr>
        <p:cNvGrpSpPr/>
        <p:nvPr/>
      </p:nvGrpSpPr>
      <p:grpSpPr>
        <a:xfrm>
          <a:off x="0" y="0"/>
          <a:ext cx="0" cy="0"/>
          <a:chOff x="0" y="0"/>
          <a:chExt cx="0" cy="0"/>
        </a:xfrm>
      </p:grpSpPr>
      <p:sp>
        <p:nvSpPr>
          <p:cNvPr id="204" name="Google Shape;204;g3a99285e230_0_59">
            <a:extLst>
              <a:ext uri="{FF2B5EF4-FFF2-40B4-BE49-F238E27FC236}">
                <a16:creationId xmlns:a16="http://schemas.microsoft.com/office/drawing/2014/main" id="{066F92AA-2878-ECEE-6513-D6074E58B99F}"/>
              </a:ext>
            </a:extLst>
          </p:cNvPr>
          <p:cNvSpPr txBox="1">
            <a:spLocks noGrp="1"/>
          </p:cNvSpPr>
          <p:nvPr>
            <p:ph type="sldNum" idx="12"/>
          </p:nvPr>
        </p:nvSpPr>
        <p:spPr>
          <a:xfrm>
            <a:off x="6867383" y="6572126"/>
            <a:ext cx="2057400" cy="3651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19</a:t>
            </a:fld>
            <a:endParaRPr/>
          </a:p>
        </p:txBody>
      </p:sp>
      <p:sp>
        <p:nvSpPr>
          <p:cNvPr id="205" name="Google Shape;205;g3a99285e230_0_59">
            <a:extLst>
              <a:ext uri="{FF2B5EF4-FFF2-40B4-BE49-F238E27FC236}">
                <a16:creationId xmlns:a16="http://schemas.microsoft.com/office/drawing/2014/main" id="{CC3B2B19-850A-C496-B0D2-C62DDACB1FF1}"/>
              </a:ext>
            </a:extLst>
          </p:cNvPr>
          <p:cNvSpPr txBox="1">
            <a:spLocks noGrp="1"/>
          </p:cNvSpPr>
          <p:nvPr>
            <p:ph type="title"/>
          </p:nvPr>
        </p:nvSpPr>
        <p:spPr>
          <a:xfrm>
            <a:off x="235077" y="78613"/>
            <a:ext cx="8673900" cy="4518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chemeClr val="lt1"/>
              </a:buClr>
              <a:buSzPts val="2800"/>
              <a:buFont typeface="Lato"/>
              <a:buNone/>
            </a:pPr>
            <a:r>
              <a:rPr lang="vi-VN" dirty="0"/>
              <a:t>Kế hoạch dự kiến</a:t>
            </a:r>
            <a:endParaRPr dirty="0"/>
          </a:p>
        </p:txBody>
      </p:sp>
      <p:sp>
        <p:nvSpPr>
          <p:cNvPr id="206" name="Google Shape;206;g3a99285e230_0_59">
            <a:extLst>
              <a:ext uri="{FF2B5EF4-FFF2-40B4-BE49-F238E27FC236}">
                <a16:creationId xmlns:a16="http://schemas.microsoft.com/office/drawing/2014/main" id="{E5EBFF52-97DA-0C42-7382-3017889AD87C}"/>
              </a:ext>
            </a:extLst>
          </p:cNvPr>
          <p:cNvSpPr txBox="1"/>
          <p:nvPr/>
        </p:nvSpPr>
        <p:spPr>
          <a:xfrm>
            <a:off x="0" y="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7" name="Google Shape;207;g3a99285e230_0_59">
            <a:extLst>
              <a:ext uri="{FF2B5EF4-FFF2-40B4-BE49-F238E27FC236}">
                <a16:creationId xmlns:a16="http://schemas.microsoft.com/office/drawing/2014/main" id="{BF60EDB9-BCC4-84A5-839A-D2AC3D37CBCE}"/>
              </a:ext>
            </a:extLst>
          </p:cNvPr>
          <p:cNvSpPr txBox="1"/>
          <p:nvPr/>
        </p:nvSpPr>
        <p:spPr>
          <a:xfrm>
            <a:off x="3507325" y="2291850"/>
            <a:ext cx="3000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400"/>
              </a:spcBef>
              <a:spcAft>
                <a:spcPts val="400"/>
              </a:spcAft>
              <a:buNone/>
            </a:pPr>
            <a:endParaRPr sz="1300" b="1">
              <a:solidFill>
                <a:schemeClr val="dk1"/>
              </a:solidFill>
            </a:endParaRPr>
          </a:p>
        </p:txBody>
      </p:sp>
      <p:sp>
        <p:nvSpPr>
          <p:cNvPr id="208" name="Google Shape;208;g3a99285e230_0_59">
            <a:extLst>
              <a:ext uri="{FF2B5EF4-FFF2-40B4-BE49-F238E27FC236}">
                <a16:creationId xmlns:a16="http://schemas.microsoft.com/office/drawing/2014/main" id="{0AA77D2E-C9ED-5E63-2742-6485DA622E4B}"/>
              </a:ext>
            </a:extLst>
          </p:cNvPr>
          <p:cNvSpPr txBox="1"/>
          <p:nvPr/>
        </p:nvSpPr>
        <p:spPr>
          <a:xfrm>
            <a:off x="610158" y="1047014"/>
            <a:ext cx="6861600" cy="1437286"/>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1200"/>
              </a:spcAft>
              <a:buNone/>
            </a:pPr>
            <a:r>
              <a:rPr lang="vi-VN" sz="1800" dirty="0">
                <a:solidFill>
                  <a:schemeClr val="dk1"/>
                </a:solidFill>
              </a:rPr>
              <a:t>- Tiếp tục cài đặt local search tối ưu hơn</a:t>
            </a:r>
          </a:p>
          <a:p>
            <a:pPr marL="0" lvl="0" indent="0" algn="l" rtl="0">
              <a:lnSpc>
                <a:spcPct val="115000"/>
              </a:lnSpc>
              <a:spcBef>
                <a:spcPts val="1200"/>
              </a:spcBef>
              <a:spcAft>
                <a:spcPts val="1200"/>
              </a:spcAft>
              <a:buNone/>
            </a:pPr>
            <a:r>
              <a:rPr lang="vi-VN" sz="1800" dirty="0">
                <a:solidFill>
                  <a:schemeClr val="dk1"/>
                </a:solidFill>
              </a:rPr>
              <a:t>- Tối ưu tham số, tối ưu lời giải</a:t>
            </a:r>
            <a:endParaRPr sz="1800" dirty="0">
              <a:solidFill>
                <a:schemeClr val="dk1"/>
              </a:solidFill>
            </a:endParaRPr>
          </a:p>
        </p:txBody>
      </p:sp>
    </p:spTree>
    <p:extLst>
      <p:ext uri="{BB962C8B-B14F-4D97-AF65-F5344CB8AC3E}">
        <p14:creationId xmlns:p14="http://schemas.microsoft.com/office/powerpoint/2010/main" val="12049861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1"/>
          <p:cNvSpPr txBox="1">
            <a:spLocks noGrp="1"/>
          </p:cNvSpPr>
          <p:nvPr>
            <p:ph type="sldNum" idx="12"/>
          </p:nvPr>
        </p:nvSpPr>
        <p:spPr>
          <a:xfrm>
            <a:off x="6867383" y="6572126"/>
            <a:ext cx="2057400" cy="365125"/>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20</a:t>
            </a:fld>
            <a:endParaRPr/>
          </a:p>
        </p:txBody>
      </p:sp>
      <p:sp>
        <p:nvSpPr>
          <p:cNvPr id="199" name="Google Shape;199;p11"/>
          <p:cNvSpPr txBox="1"/>
          <p:nvPr/>
        </p:nvSpPr>
        <p:spPr>
          <a:xfrm>
            <a:off x="4181094" y="3021991"/>
            <a:ext cx="4197975" cy="81401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C00000"/>
              </a:buClr>
              <a:buSzPts val="4800"/>
              <a:buFont typeface="Lato"/>
              <a:buNone/>
            </a:pPr>
            <a:r>
              <a:rPr lang="en-US" sz="4800" b="1">
                <a:solidFill>
                  <a:srgbClr val="C00000"/>
                </a:solidFill>
                <a:latin typeface="Lato"/>
                <a:ea typeface="Lato"/>
                <a:cs typeface="Lato"/>
                <a:sym typeface="Lato"/>
              </a:rPr>
              <a:t>THANK YOU !</a:t>
            </a:r>
            <a:endParaRPr/>
          </a:p>
        </p:txBody>
      </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308</TotalTime>
  <Words>2327</Words>
  <Application>Microsoft Office PowerPoint</Application>
  <PresentationFormat>On-screen Show (4:3)</PresentationFormat>
  <Paragraphs>189</Paragraphs>
  <Slides>20</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Wingdings</vt:lpstr>
      <vt:lpstr>Calibri</vt:lpstr>
      <vt:lpstr>Cambria Math</vt:lpstr>
      <vt:lpstr>Arial</vt:lpstr>
      <vt:lpstr>Lato</vt:lpstr>
      <vt:lpstr>Office Theme</vt:lpstr>
      <vt:lpstr>PowerPoint Presentation</vt:lpstr>
      <vt:lpstr>PowerPoint Presentation</vt:lpstr>
      <vt:lpstr>Giới thiệu bài toán</vt:lpstr>
      <vt:lpstr>Bộ dữ liệu: Bộ dữ liệu Hustack cho bài toán TSP-TW</vt:lpstr>
      <vt:lpstr>Các thuật toán đã áp dụng</vt:lpstr>
      <vt:lpstr>Các thuật toán đã áp dụng</vt:lpstr>
      <vt:lpstr>Chiến thuật khởi tạo tham lam</vt:lpstr>
      <vt:lpstr>Lựa chọn toán tử </vt:lpstr>
      <vt:lpstr>Sử dụng toán tử linh hoạt cho GA</vt:lpstr>
      <vt:lpstr>Chiến thuật tăng cường lời giải cho GA</vt:lpstr>
      <vt:lpstr>Chiến thuật tăng cường lời giải cho GA</vt:lpstr>
      <vt:lpstr>Chiến thuật tăng cường lời giải cho GA</vt:lpstr>
      <vt:lpstr>Chiến thuật tăng cường lời giải cho GA</vt:lpstr>
      <vt:lpstr>Giải thuật GP</vt:lpstr>
      <vt:lpstr>Giải thuật ACO</vt:lpstr>
      <vt:lpstr>Giải thuật ACO</vt:lpstr>
      <vt:lpstr>So sánh kết quả</vt:lpstr>
      <vt:lpstr>So sánh kết quả</vt:lpstr>
      <vt:lpstr>Kế hoạch dự kiến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Phong TT &amp; QTTH</dc:creator>
  <cp:lastModifiedBy>An Phạm</cp:lastModifiedBy>
  <cp:revision>33</cp:revision>
  <dcterms:created xsi:type="dcterms:W3CDTF">2021-05-28T04:32:29Z</dcterms:created>
  <dcterms:modified xsi:type="dcterms:W3CDTF">2025-12-09T05:56:06Z</dcterms:modified>
</cp:coreProperties>
</file>