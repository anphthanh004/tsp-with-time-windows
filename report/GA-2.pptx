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9144000"/>
  <p:notesSz cx="6858000" cy="9144000"/>
  <p:embeddedFontLs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hob+T9dDggFRb/ADVxqVAplw7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ato-boldItalic.fntdata"/><Relationship Id="rId25" Type="http://schemas.openxmlformats.org/officeDocument/2006/relationships/font" Target="fonts/Lato-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884b74e3e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g39884b74e3e_0_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884b74e3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9884b74e3e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99285e230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a99285e230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99285e230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a99285e230_0_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99285e230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a99285e230_1_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99285e230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a99285e230_0_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99285e23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a99285e230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99285e230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a99285e230_0_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15"/>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5"/>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15"/>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15"/>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16"/>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F2F2F2"/>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6"/>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16"/>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7"/>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17"/>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7"/>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7"/>
          <p:cNvSpPr txBox="1"/>
          <p:nvPr>
            <p:ph idx="1" type="body"/>
          </p:nvPr>
        </p:nvSpPr>
        <p:spPr>
          <a:xfrm>
            <a:off x="528828"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 name="Google Shape;27;p17"/>
          <p:cNvSpPr txBox="1"/>
          <p:nvPr>
            <p:ph idx="2" type="body"/>
          </p:nvPr>
        </p:nvSpPr>
        <p:spPr>
          <a:xfrm>
            <a:off x="4572000"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17"/>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18"/>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18"/>
          <p:cNvSpPr txBox="1"/>
          <p:nvPr>
            <p:ph idx="1" type="body"/>
          </p:nvPr>
        </p:nvSpPr>
        <p:spPr>
          <a:xfrm>
            <a:off x="595884"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18"/>
          <p:cNvSpPr txBox="1"/>
          <p:nvPr>
            <p:ph idx="2" type="body"/>
          </p:nvPr>
        </p:nvSpPr>
        <p:spPr>
          <a:xfrm>
            <a:off x="4639056"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18"/>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1F3864"/>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8"/>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1F3864"/>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18"/>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1F3864"/>
                </a:solidFill>
                <a:latin typeface="Lato"/>
                <a:ea typeface="Lato"/>
                <a:cs typeface="Lato"/>
                <a:sym typeface="Lato"/>
              </a:defRPr>
            </a:lvl1pPr>
            <a:lvl2pPr indent="0" lvl="1" marL="0" marR="0" rtl="0" algn="r">
              <a:spcBef>
                <a:spcPts val="0"/>
              </a:spcBef>
              <a:buNone/>
              <a:defRPr b="1" sz="1200">
                <a:solidFill>
                  <a:srgbClr val="1F3864"/>
                </a:solidFill>
                <a:latin typeface="Lato"/>
                <a:ea typeface="Lato"/>
                <a:cs typeface="Lato"/>
                <a:sym typeface="Lato"/>
              </a:defRPr>
            </a:lvl2pPr>
            <a:lvl3pPr indent="0" lvl="2" marL="0" marR="0" rtl="0" algn="r">
              <a:spcBef>
                <a:spcPts val="0"/>
              </a:spcBef>
              <a:buNone/>
              <a:defRPr b="1" sz="1200">
                <a:solidFill>
                  <a:srgbClr val="1F3864"/>
                </a:solidFill>
                <a:latin typeface="Lato"/>
                <a:ea typeface="Lato"/>
                <a:cs typeface="Lato"/>
                <a:sym typeface="Lato"/>
              </a:defRPr>
            </a:lvl3pPr>
            <a:lvl4pPr indent="0" lvl="3" marL="0" marR="0" rtl="0" algn="r">
              <a:spcBef>
                <a:spcPts val="0"/>
              </a:spcBef>
              <a:buNone/>
              <a:defRPr b="1" sz="1200">
                <a:solidFill>
                  <a:srgbClr val="1F3864"/>
                </a:solidFill>
                <a:latin typeface="Lato"/>
                <a:ea typeface="Lato"/>
                <a:cs typeface="Lato"/>
                <a:sym typeface="Lato"/>
              </a:defRPr>
            </a:lvl4pPr>
            <a:lvl5pPr indent="0" lvl="4" marL="0" marR="0" rtl="0" algn="r">
              <a:spcBef>
                <a:spcPts val="0"/>
              </a:spcBef>
              <a:buNone/>
              <a:defRPr b="1" sz="1200">
                <a:solidFill>
                  <a:srgbClr val="1F3864"/>
                </a:solidFill>
                <a:latin typeface="Lato"/>
                <a:ea typeface="Lato"/>
                <a:cs typeface="Lato"/>
                <a:sym typeface="Lato"/>
              </a:defRPr>
            </a:lvl5pPr>
            <a:lvl6pPr indent="0" lvl="5" marL="0" marR="0" rtl="0" algn="r">
              <a:spcBef>
                <a:spcPts val="0"/>
              </a:spcBef>
              <a:buNone/>
              <a:defRPr b="1" sz="1200">
                <a:solidFill>
                  <a:srgbClr val="1F3864"/>
                </a:solidFill>
                <a:latin typeface="Lato"/>
                <a:ea typeface="Lato"/>
                <a:cs typeface="Lato"/>
                <a:sym typeface="Lato"/>
              </a:defRPr>
            </a:lvl6pPr>
            <a:lvl7pPr indent="0" lvl="6" marL="0" marR="0" rtl="0" algn="r">
              <a:spcBef>
                <a:spcPts val="0"/>
              </a:spcBef>
              <a:buNone/>
              <a:defRPr b="1" sz="1200">
                <a:solidFill>
                  <a:srgbClr val="1F3864"/>
                </a:solidFill>
                <a:latin typeface="Lato"/>
                <a:ea typeface="Lato"/>
                <a:cs typeface="Lato"/>
                <a:sym typeface="Lato"/>
              </a:defRPr>
            </a:lvl7pPr>
            <a:lvl8pPr indent="0" lvl="7" marL="0" marR="0" rtl="0" algn="r">
              <a:spcBef>
                <a:spcPts val="0"/>
              </a:spcBef>
              <a:buNone/>
              <a:defRPr b="1" sz="1200">
                <a:solidFill>
                  <a:srgbClr val="1F3864"/>
                </a:solidFill>
                <a:latin typeface="Lato"/>
                <a:ea typeface="Lato"/>
                <a:cs typeface="Lato"/>
                <a:sym typeface="Lato"/>
              </a:defRPr>
            </a:lvl8pPr>
            <a:lvl9pPr indent="0" lvl="8" marL="0" marR="0" rtl="0" algn="r">
              <a:spcBef>
                <a:spcPts val="0"/>
              </a:spcBef>
              <a:buNone/>
              <a:defRPr b="1" sz="1200">
                <a:solidFill>
                  <a:srgbClr val="1F3864"/>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19"/>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19"/>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1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9"/>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19"/>
          <p:cNvSpPr txBox="1"/>
          <p:nvPr>
            <p:ph idx="1" type="body"/>
          </p:nvPr>
        </p:nvSpPr>
        <p:spPr>
          <a:xfrm>
            <a:off x="234950" y="1227550"/>
            <a:ext cx="8674100" cy="486844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20"/>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20"/>
          <p:cNvSpPr txBox="1"/>
          <p:nvPr>
            <p:ph idx="1" type="body"/>
          </p:nvPr>
        </p:nvSpPr>
        <p:spPr>
          <a:xfrm>
            <a:off x="595884"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 name="Google Shape;45;p20"/>
          <p:cNvSpPr txBox="1"/>
          <p:nvPr>
            <p:ph idx="2" type="body"/>
          </p:nvPr>
        </p:nvSpPr>
        <p:spPr>
          <a:xfrm>
            <a:off x="4639056"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20"/>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0"/>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0"/>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mparison">
  <p:cSld name="3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1"/>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21"/>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21"/>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21"/>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21"/>
          <p:cNvSpPr txBox="1"/>
          <p:nvPr>
            <p:ph idx="1" type="body"/>
          </p:nvPr>
        </p:nvSpPr>
        <p:spPr>
          <a:xfrm>
            <a:off x="234950" y="1164920"/>
            <a:ext cx="8674100" cy="493107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b="0" l="0" r="0" t="0"/>
          <a:stretch/>
        </p:blipFill>
        <p:spPr>
          <a:xfrm>
            <a:off x="413012" y="398419"/>
            <a:ext cx="2037225" cy="611594"/>
          </a:xfrm>
          <a:prstGeom prst="rect">
            <a:avLst/>
          </a:prstGeom>
          <a:noFill/>
          <a:ln>
            <a:noFill/>
          </a:ln>
        </p:spPr>
      </p:pic>
      <p:sp>
        <p:nvSpPr>
          <p:cNvPr id="64" name="Google Shape;64;p2"/>
          <p:cNvSpPr txBox="1"/>
          <p:nvPr/>
        </p:nvSpPr>
        <p:spPr>
          <a:xfrm>
            <a:off x="413012" y="1944936"/>
            <a:ext cx="7342500" cy="848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5400"/>
              <a:buFont typeface="Lato"/>
              <a:buNone/>
            </a:pPr>
            <a:r>
              <a:rPr b="1" i="0" lang="en-US" sz="5400" u="none" cap="none" strike="noStrike">
                <a:solidFill>
                  <a:srgbClr val="C00000"/>
                </a:solidFill>
                <a:latin typeface="Lato"/>
                <a:ea typeface="Lato"/>
                <a:cs typeface="Lato"/>
                <a:sym typeface="Lato"/>
              </a:rPr>
              <a:t>TSP with time window</a:t>
            </a:r>
            <a:endParaRPr b="1" i="0" sz="5400" u="none" cap="none" strike="noStrike">
              <a:solidFill>
                <a:srgbClr val="C00000"/>
              </a:solidFill>
              <a:latin typeface="Lato"/>
              <a:ea typeface="Lato"/>
              <a:cs typeface="Lato"/>
              <a:sym typeface="Lato"/>
            </a:endParaRPr>
          </a:p>
        </p:txBody>
      </p:sp>
      <p:sp>
        <p:nvSpPr>
          <p:cNvPr id="65" name="Google Shape;65;p2"/>
          <p:cNvSpPr txBox="1"/>
          <p:nvPr/>
        </p:nvSpPr>
        <p:spPr>
          <a:xfrm>
            <a:off x="413012" y="3090922"/>
            <a:ext cx="7342500" cy="848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800"/>
              <a:buFont typeface="Lato"/>
              <a:buNone/>
            </a:pPr>
            <a:r>
              <a:rPr b="0" i="0" lang="en-US" sz="2800" u="none" cap="none" strike="noStrike">
                <a:solidFill>
                  <a:srgbClr val="C00000"/>
                </a:solidFill>
                <a:latin typeface="Lato"/>
                <a:ea typeface="Lato"/>
                <a:cs typeface="Lato"/>
                <a:sym typeface="Lato"/>
              </a:rPr>
              <a:t>Group 5</a:t>
            </a:r>
            <a:endParaRPr/>
          </a:p>
          <a:p>
            <a:pPr indent="-406400" lvl="0" marL="457200" marR="0" rtl="0" algn="l">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Phạm Thanh An - 20224911</a:t>
            </a:r>
            <a:endParaRPr sz="2800">
              <a:solidFill>
                <a:srgbClr val="C00000"/>
              </a:solidFill>
              <a:latin typeface="Lato"/>
              <a:ea typeface="Lato"/>
              <a:cs typeface="Lato"/>
              <a:sym typeface="Lato"/>
            </a:endParaRPr>
          </a:p>
          <a:p>
            <a:pPr indent="-406400" lvl="0" marL="457200" marR="0" rtl="0" algn="l">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Đoàn Mạnh Hùng - 20224995</a:t>
            </a:r>
            <a:endParaRPr sz="2800">
              <a:solidFill>
                <a:srgbClr val="C00000"/>
              </a:solidFill>
              <a:latin typeface="Lato"/>
              <a:ea typeface="Lato"/>
              <a:cs typeface="Lato"/>
              <a:sym typeface="Lato"/>
            </a:endParaRPr>
          </a:p>
          <a:p>
            <a:pPr indent="-406400" lvl="0" marL="457200" marR="0" rtl="0" algn="l">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Phạm Việt Hoàng - 20224854</a:t>
            </a:r>
            <a:endParaRPr sz="2800">
              <a:solidFill>
                <a:srgbClr val="C00000"/>
              </a:solidFill>
              <a:latin typeface="Lato"/>
              <a:ea typeface="Lato"/>
              <a:cs typeface="Lato"/>
              <a:sym typeface="Lato"/>
            </a:endParaRPr>
          </a:p>
          <a:p>
            <a:pPr indent="-406400" lvl="0" marL="457200" marR="0" rtl="0" algn="l">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Nguyễn Thị Trà My - 2022549</a:t>
            </a:r>
            <a:endParaRPr sz="2800">
              <a:solidFill>
                <a:srgbClr val="C00000"/>
              </a:solidFill>
              <a:latin typeface="Lato"/>
              <a:ea typeface="Lato"/>
              <a:cs typeface="Lato"/>
              <a:sym typeface="Lato"/>
            </a:endParaRPr>
          </a:p>
          <a:p>
            <a:pPr indent="0" lvl="0" marL="0" marR="0" rtl="0" algn="l">
              <a:lnSpc>
                <a:spcPct val="90000"/>
              </a:lnSpc>
              <a:spcBef>
                <a:spcPts val="0"/>
              </a:spcBef>
              <a:spcAft>
                <a:spcPts val="0"/>
              </a:spcAft>
              <a:buClr>
                <a:srgbClr val="C00000"/>
              </a:buClr>
              <a:buSzPts val="2800"/>
              <a:buFont typeface="Lato"/>
              <a:buNone/>
            </a:pPr>
            <a:r>
              <a:t/>
            </a:r>
            <a:endParaRPr b="0" i="0" sz="2800" u="none" cap="none" strike="noStrike">
              <a:solidFill>
                <a:srgbClr val="C00000"/>
              </a:solidFill>
              <a:latin typeface="Lato"/>
              <a:ea typeface="Lato"/>
              <a:cs typeface="Lato"/>
              <a:sym typeface="Lato"/>
            </a:endParaRPr>
          </a:p>
          <a:p>
            <a:pPr indent="0" lvl="0" marL="0" marR="0" rtl="0" algn="l">
              <a:lnSpc>
                <a:spcPct val="90000"/>
              </a:lnSpc>
              <a:spcBef>
                <a:spcPts val="0"/>
              </a:spcBef>
              <a:spcAft>
                <a:spcPts val="0"/>
              </a:spcAft>
              <a:buClr>
                <a:srgbClr val="C00000"/>
              </a:buClr>
              <a:buSzPts val="2800"/>
              <a:buFont typeface="Lato"/>
              <a:buNone/>
            </a:pPr>
            <a:r>
              <a:t/>
            </a:r>
            <a:endParaRPr b="0" i="0" sz="2800" u="none" cap="none" strike="noStrike">
              <a:solidFill>
                <a:srgbClr val="C00000"/>
              </a:solidFill>
              <a:latin typeface="Lato"/>
              <a:ea typeface="Lato"/>
              <a:cs typeface="Lato"/>
              <a:sym typeface="Lato"/>
            </a:endParaRPr>
          </a:p>
          <a:p>
            <a:pPr indent="0" lvl="0" marL="0" marR="0" rtl="0" algn="l">
              <a:lnSpc>
                <a:spcPct val="90000"/>
              </a:lnSpc>
              <a:spcBef>
                <a:spcPts val="0"/>
              </a:spcBef>
              <a:spcAft>
                <a:spcPts val="0"/>
              </a:spcAft>
              <a:buClr>
                <a:srgbClr val="C00000"/>
              </a:buClr>
              <a:buSzPts val="2800"/>
              <a:buFont typeface="Lato"/>
              <a:buNone/>
            </a:pPr>
            <a:r>
              <a:t/>
            </a:r>
            <a:endParaRPr b="0" i="0" sz="2800" u="none" cap="none" strike="noStrike">
              <a:solidFill>
                <a:srgbClr val="C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9884b74e3e_0_14"/>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 name="Google Shape;71;g39884b74e3e_0_14"/>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1. Giới thiệu bài toán</a:t>
            </a:r>
            <a:endParaRPr/>
          </a:p>
        </p:txBody>
      </p:sp>
      <p:sp>
        <p:nvSpPr>
          <p:cNvPr id="72" name="Google Shape;72;g39884b74e3e_0_14"/>
          <p:cNvSpPr txBox="1"/>
          <p:nvPr>
            <p:ph idx="1" type="body"/>
          </p:nvPr>
        </p:nvSpPr>
        <p:spPr>
          <a:xfrm>
            <a:off x="235077" y="841247"/>
            <a:ext cx="8674200" cy="5303400"/>
          </a:xfrm>
          <a:prstGeom prst="rect">
            <a:avLst/>
          </a:prstGeom>
          <a:noFill/>
          <a:ln>
            <a:noFill/>
          </a:ln>
        </p:spPr>
        <p:txBody>
          <a:bodyPr anchorCtr="0" anchor="t" bIns="45700" lIns="91425" spcFirstLastPara="1" rIns="91425" wrap="square" tIns="45700">
            <a:noAutofit/>
          </a:bodyPr>
          <a:lstStyle/>
          <a:p>
            <a:pPr indent="-76200" lvl="0" marL="228600" rtl="0" algn="l">
              <a:lnSpc>
                <a:spcPct val="90000"/>
              </a:lnSpc>
              <a:spcBef>
                <a:spcPts val="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Một nhân viên giao hàng lấy hàng ở kho (điểm 0) và cần đi giao hàng cho N khách hàng 1,2,…, N. </a:t>
            </a:r>
            <a:endParaRPr/>
          </a:p>
          <a:p>
            <a:pPr indent="-228600" lvl="0" marL="228600" rtl="0" algn="l">
              <a:lnSpc>
                <a:spcPct val="90000"/>
              </a:lnSpc>
              <a:spcBef>
                <a:spcPts val="1000"/>
              </a:spcBef>
              <a:spcAft>
                <a:spcPts val="0"/>
              </a:spcAft>
              <a:buClr>
                <a:schemeClr val="dk1"/>
              </a:buClr>
              <a:buSzPts val="2400"/>
              <a:buChar char="•"/>
            </a:pPr>
            <a:r>
              <a:rPr lang="en-US" sz="2400"/>
              <a:t>Khách hàng i nằm ở điểm i và có yêu cầu giao hàng trong khoảng thời gian từ `e(i)` đến `l(i)` và giao hàng hết `d(i)`  đơn vị thời gian (s). Biết rằng  `t(i,j)` là thời gian di  chuyển từ điểm i đến điểm j. </a:t>
            </a:r>
            <a:endParaRPr/>
          </a:p>
          <a:p>
            <a:pPr indent="-228600" lvl="0" marL="228600" rtl="0" algn="l">
              <a:lnSpc>
                <a:spcPct val="90000"/>
              </a:lnSpc>
              <a:spcBef>
                <a:spcPts val="1000"/>
              </a:spcBef>
              <a:spcAft>
                <a:spcPts val="0"/>
              </a:spcAft>
              <a:buClr>
                <a:schemeClr val="dk1"/>
              </a:buClr>
              <a:buSzPts val="2400"/>
              <a:buChar char="•"/>
            </a:pPr>
            <a:r>
              <a:rPr lang="en-US" sz="2400"/>
              <a:t>Nhân viên giao hàng xuất phát từ kho tại thời điểm t0, hãy tính toán lộ trình giao hàng cho nhân viên giao hàng sao cho tổng thời gian di chuyển là ngắn nhất.</a:t>
            </a:r>
            <a:endParaRPr/>
          </a:p>
          <a:p>
            <a:pPr indent="-228600" lvl="0" marL="228600" rtl="0" algn="l">
              <a:lnSpc>
                <a:spcPct val="90000"/>
              </a:lnSpc>
              <a:spcBef>
                <a:spcPts val="1000"/>
              </a:spcBef>
              <a:spcAft>
                <a:spcPts val="0"/>
              </a:spcAft>
              <a:buClr>
                <a:schemeClr val="dk1"/>
              </a:buClr>
              <a:buSzPts val="2400"/>
              <a:buChar char="•"/>
            </a:pPr>
            <a:r>
              <a:rPr lang="en-US" sz="2400"/>
              <a:t>- Each solution is represented by a permutation s[1], s[2], . . ., s[N] of 1, 2, . . ., N.</a:t>
            </a:r>
            <a:endParaRPr/>
          </a:p>
          <a:p>
            <a:pPr indent="-76200" lvl="0" marL="22860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8" name="Google Shape;78;p4"/>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2. Biểu diễn bài toán</a:t>
            </a:r>
            <a:endParaRPr/>
          </a:p>
        </p:txBody>
      </p:sp>
      <p:sp>
        <p:nvSpPr>
          <p:cNvPr id="79" name="Google Shape;79;p4"/>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Sử dụng thuật toán GA, coi mỗi lời giải  trong tập lời giải khả thi là một cá thể, một tập lời giải là một quần thể</a:t>
            </a:r>
            <a:endParaRPr/>
          </a:p>
          <a:p>
            <a:pPr indent="-228600" lvl="0" marL="228600" rtl="0" algn="l">
              <a:lnSpc>
                <a:spcPct val="90000"/>
              </a:lnSpc>
              <a:spcBef>
                <a:spcPts val="1000"/>
              </a:spcBef>
              <a:spcAft>
                <a:spcPts val="0"/>
              </a:spcAft>
              <a:buClr>
                <a:schemeClr val="dk1"/>
              </a:buClr>
              <a:buSzPts val="2400"/>
              <a:buChar char="•"/>
            </a:pPr>
            <a:r>
              <a:rPr lang="en-US" sz="2400"/>
              <a:t>Mã hóa lời giải: mã hóa hoán vị </a:t>
            </a:r>
            <a:endParaRPr/>
          </a:p>
          <a:p>
            <a:pPr indent="-228600" lvl="0" marL="228600" rtl="0" algn="l">
              <a:lnSpc>
                <a:spcPct val="90000"/>
              </a:lnSpc>
              <a:spcBef>
                <a:spcPts val="1000"/>
              </a:spcBef>
              <a:spcAft>
                <a:spcPts val="0"/>
              </a:spcAft>
              <a:buClr>
                <a:schemeClr val="dk1"/>
              </a:buClr>
              <a:buSzPts val="2400"/>
              <a:buChar char="•"/>
            </a:pPr>
            <a:r>
              <a:rPr lang="en-US" sz="2400"/>
              <a:t>Đặc điểm của một lời giải:</a:t>
            </a:r>
            <a:endParaRPr/>
          </a:p>
          <a:p>
            <a:pPr indent="-228600" lvl="1" marL="685800" rtl="0" algn="l">
              <a:lnSpc>
                <a:spcPct val="90000"/>
              </a:lnSpc>
              <a:spcBef>
                <a:spcPts val="500"/>
              </a:spcBef>
              <a:spcAft>
                <a:spcPts val="0"/>
              </a:spcAft>
              <a:buClr>
                <a:schemeClr val="dk1"/>
              </a:buClr>
              <a:buSzPts val="2000"/>
              <a:buChar char="•"/>
            </a:pPr>
            <a:r>
              <a:rPr lang="en-US" sz="2000"/>
              <a:t>Là một hành trình đi từ thành phố 0 qua các thành phố rồi quay lại</a:t>
            </a:r>
            <a:endParaRPr/>
          </a:p>
          <a:p>
            <a:pPr indent="-228600" lvl="1" marL="685800" rtl="0" algn="l">
              <a:lnSpc>
                <a:spcPct val="90000"/>
              </a:lnSpc>
              <a:spcBef>
                <a:spcPts val="500"/>
              </a:spcBef>
              <a:spcAft>
                <a:spcPts val="0"/>
              </a:spcAft>
              <a:buClr>
                <a:schemeClr val="dk1"/>
              </a:buClr>
              <a:buSzPts val="2000"/>
              <a:buChar char="•"/>
            </a:pPr>
            <a:r>
              <a:rPr lang="en-US" sz="2000"/>
              <a:t>Hàm mục tiêu: phục vụ khách  hàng trong thời gian time window của họ (nếu không đến kịp sẽ bị phạt)</a:t>
            </a:r>
            <a:endParaRPr/>
          </a:p>
          <a:p>
            <a:pPr indent="-228600" lvl="1" marL="685800" rtl="0" algn="l">
              <a:lnSpc>
                <a:spcPct val="90000"/>
              </a:lnSpc>
              <a:spcBef>
                <a:spcPts val="500"/>
              </a:spcBef>
              <a:spcAft>
                <a:spcPts val="0"/>
              </a:spcAft>
              <a:buClr>
                <a:schemeClr val="dk1"/>
              </a:buClr>
              <a:buSzPts val="2000"/>
              <a:buChar char="•"/>
            </a:pPr>
            <a:r>
              <a:rPr lang="en-US" sz="2000"/>
              <a:t>Giá trị thích nghi (fitness): được biến đổi dựa trên giá trị hàm mục tiêu:</a:t>
            </a:r>
            <a:endParaRPr/>
          </a:p>
          <a:p>
            <a:pPr indent="-228600" lvl="2" marL="1143000" rtl="0" algn="l">
              <a:lnSpc>
                <a:spcPct val="90000"/>
              </a:lnSpc>
              <a:spcBef>
                <a:spcPts val="500"/>
              </a:spcBef>
              <a:spcAft>
                <a:spcPts val="0"/>
              </a:spcAft>
              <a:buClr>
                <a:schemeClr val="dk1"/>
              </a:buClr>
              <a:buSzPts val="1600"/>
              <a:buChar char="•"/>
            </a:pPr>
            <a:r>
              <a:rPr lang="en-US" sz="1600"/>
              <a:t>Lấy trực tiếp giá trị hàm mục tiêu </a:t>
            </a:r>
            <a:endParaRPr/>
          </a:p>
          <a:p>
            <a:pPr indent="-228600" lvl="2" marL="1143000" rtl="0" algn="l">
              <a:lnSpc>
                <a:spcPct val="90000"/>
              </a:lnSpc>
              <a:spcBef>
                <a:spcPts val="500"/>
              </a:spcBef>
              <a:spcAft>
                <a:spcPts val="0"/>
              </a:spcAft>
              <a:buClr>
                <a:schemeClr val="dk1"/>
              </a:buClr>
              <a:buSzPts val="1600"/>
              <a:buChar char="•"/>
            </a:pPr>
            <a:r>
              <a:rPr lang="en-US" sz="1600"/>
              <a:t>Xếp thứ hạng</a:t>
            </a:r>
            <a:endParaRPr/>
          </a:p>
          <a:p>
            <a:pPr indent="-228600" lvl="2" marL="1143000" rtl="0" algn="l">
              <a:lnSpc>
                <a:spcPct val="90000"/>
              </a:lnSpc>
              <a:spcBef>
                <a:spcPts val="500"/>
              </a:spcBef>
              <a:spcAft>
                <a:spcPts val="0"/>
              </a:spcAft>
              <a:buClr>
                <a:schemeClr val="dk1"/>
              </a:buClr>
              <a:buSzPts val="1600"/>
              <a:buChar char="•"/>
            </a:pPr>
            <a:r>
              <a:rPr lang="en-US" sz="1600"/>
              <a:t>Kết hợp xếp thứ hạng và độ phân ly (mối quan hệ giữa lời giải này và lời giải khác trong quần thể)</a:t>
            </a:r>
            <a:endParaRPr/>
          </a:p>
          <a:p>
            <a:pPr indent="-228600" lvl="0" marL="228600" rtl="0" algn="l">
              <a:lnSpc>
                <a:spcPct val="90000"/>
              </a:lnSpc>
              <a:spcBef>
                <a:spcPts val="1000"/>
              </a:spcBef>
              <a:spcAft>
                <a:spcPts val="0"/>
              </a:spcAft>
              <a:buClr>
                <a:schemeClr val="dk1"/>
              </a:buClr>
              <a:buSzPts val="2400"/>
              <a:buChar char="•"/>
            </a:pPr>
            <a:r>
              <a:rPr lang="en-US" sz="2400"/>
              <a:t>Đặc điểm quần thể: được biến đổi với các toán tử lai ghép, đột biến, chọn lọc để tạo ra quần thể mới tốt hơn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5" name="Google Shape;85;p5"/>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3. Chiến lược chọn cha mẹ</a:t>
            </a:r>
            <a:endParaRPr/>
          </a:p>
        </p:txBody>
      </p:sp>
      <p:sp>
        <p:nvSpPr>
          <p:cNvPr id="86" name="Google Shape;86;p5"/>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Các chiến lược lựa chọn cha mẹ được áp dụng:</a:t>
            </a:r>
            <a:endParaRPr/>
          </a:p>
          <a:p>
            <a:pPr indent="-228600" lvl="1" marL="685800" rtl="0" algn="l">
              <a:lnSpc>
                <a:spcPct val="90000"/>
              </a:lnSpc>
              <a:spcBef>
                <a:spcPts val="500"/>
              </a:spcBef>
              <a:spcAft>
                <a:spcPts val="0"/>
              </a:spcAft>
              <a:buClr>
                <a:schemeClr val="dk1"/>
              </a:buClr>
              <a:buSzPts val="2000"/>
              <a:buChar char="•"/>
            </a:pPr>
            <a:r>
              <a:rPr lang="en-US" sz="2000"/>
              <a:t>Chọn ngẫu nhiên theo phân phối đều</a:t>
            </a:r>
            <a:endParaRPr/>
          </a:p>
          <a:p>
            <a:pPr indent="-228600" lvl="1" marL="685800" rtl="0" algn="l">
              <a:lnSpc>
                <a:spcPct val="90000"/>
              </a:lnSpc>
              <a:spcBef>
                <a:spcPts val="500"/>
              </a:spcBef>
              <a:spcAft>
                <a:spcPts val="0"/>
              </a:spcAft>
              <a:buClr>
                <a:schemeClr val="dk1"/>
              </a:buClr>
              <a:buSzPts val="2000"/>
              <a:buChar char="•"/>
            </a:pPr>
            <a:r>
              <a:rPr lang="en-US" sz="2000"/>
              <a:t>Chọn theo bánh xe Roulete</a:t>
            </a:r>
            <a:endParaRPr/>
          </a:p>
          <a:p>
            <a:pPr indent="-228600" lvl="1" marL="685800" rtl="0" algn="l">
              <a:lnSpc>
                <a:spcPct val="90000"/>
              </a:lnSpc>
              <a:spcBef>
                <a:spcPts val="500"/>
              </a:spcBef>
              <a:spcAft>
                <a:spcPts val="0"/>
              </a:spcAft>
              <a:buClr>
                <a:schemeClr val="dk1"/>
              </a:buClr>
              <a:buSzPts val="2000"/>
              <a:buChar char="•"/>
            </a:pPr>
            <a:r>
              <a:rPr lang="en-US" sz="2000"/>
              <a:t>Chọn lọc giao đấu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2" name="Google Shape;92;p6"/>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4. Chiến lược lai ghép</a:t>
            </a:r>
            <a:endParaRPr/>
          </a:p>
        </p:txBody>
      </p:sp>
      <p:sp>
        <p:nvSpPr>
          <p:cNvPr id="93" name="Google Shape;93;p6"/>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Các chiến lược lai ghép được áp dụng:</a:t>
            </a:r>
            <a:endParaRPr/>
          </a:p>
          <a:p>
            <a:pPr indent="-228600" lvl="1" marL="685800" rtl="0" algn="l">
              <a:lnSpc>
                <a:spcPct val="90000"/>
              </a:lnSpc>
              <a:spcBef>
                <a:spcPts val="500"/>
              </a:spcBef>
              <a:spcAft>
                <a:spcPts val="0"/>
              </a:spcAft>
              <a:buClr>
                <a:schemeClr val="dk1"/>
              </a:buClr>
              <a:buSzPts val="2000"/>
              <a:buChar char="•"/>
            </a:pPr>
            <a:r>
              <a:rPr lang="en-US" sz="2000"/>
              <a:t>Lai ghép thứ tự (order crossover) OX</a:t>
            </a:r>
            <a:endParaRPr/>
          </a:p>
          <a:p>
            <a:pPr indent="-228600" lvl="1" marL="685800" rtl="0" algn="l">
              <a:lnSpc>
                <a:spcPct val="90000"/>
              </a:lnSpc>
              <a:spcBef>
                <a:spcPts val="500"/>
              </a:spcBef>
              <a:spcAft>
                <a:spcPts val="0"/>
              </a:spcAft>
              <a:buClr>
                <a:schemeClr val="dk1"/>
              </a:buClr>
              <a:buSzPts val="2000"/>
              <a:buChar char="•"/>
            </a:pPr>
            <a:r>
              <a:rPr lang="en-US" sz="2000"/>
              <a:t>Lai ghép ánh xạ từng phần - Partially Mapped Crossover (PMX)</a:t>
            </a:r>
            <a:endParaRPr/>
          </a:p>
          <a:p>
            <a:pPr indent="-228600" lvl="1" marL="685800" rtl="0" algn="l">
              <a:lnSpc>
                <a:spcPct val="90000"/>
              </a:lnSpc>
              <a:spcBef>
                <a:spcPts val="500"/>
              </a:spcBef>
              <a:spcAft>
                <a:spcPts val="0"/>
              </a:spcAft>
              <a:buClr>
                <a:schemeClr val="dk1"/>
              </a:buClr>
              <a:buSzPts val="2000"/>
              <a:buChar char="•"/>
            </a:pPr>
            <a:r>
              <a:rPr lang="en-US" sz="2000"/>
              <a:t>Lai ghép chu trình - Cycle Crossover (CX)</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7"/>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5. Chiến lược đột biến</a:t>
            </a:r>
            <a:endParaRPr/>
          </a:p>
        </p:txBody>
      </p:sp>
      <p:sp>
        <p:nvSpPr>
          <p:cNvPr id="100" name="Google Shape;100;p7"/>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Các chiến lược đột biến được áp dụng:</a:t>
            </a:r>
            <a:endParaRPr/>
          </a:p>
          <a:p>
            <a:pPr indent="-228600" lvl="1" marL="685800" rtl="0" algn="l">
              <a:lnSpc>
                <a:spcPct val="90000"/>
              </a:lnSpc>
              <a:spcBef>
                <a:spcPts val="500"/>
              </a:spcBef>
              <a:spcAft>
                <a:spcPts val="0"/>
              </a:spcAft>
              <a:buClr>
                <a:schemeClr val="dk1"/>
              </a:buClr>
              <a:buSzPts val="2000"/>
              <a:buChar char="•"/>
            </a:pPr>
            <a:r>
              <a:rPr lang="en-US" sz="2000"/>
              <a:t>Đột biến trao đổi chéo</a:t>
            </a:r>
            <a:endParaRPr/>
          </a:p>
          <a:p>
            <a:pPr indent="-228600" lvl="1" marL="685800" rtl="0" algn="l">
              <a:lnSpc>
                <a:spcPct val="90000"/>
              </a:lnSpc>
              <a:spcBef>
                <a:spcPts val="500"/>
              </a:spcBef>
              <a:spcAft>
                <a:spcPts val="0"/>
              </a:spcAft>
              <a:buClr>
                <a:schemeClr val="dk1"/>
              </a:buClr>
              <a:buSzPts val="2000"/>
              <a:buChar char="•"/>
            </a:pPr>
            <a:r>
              <a:rPr lang="en-US" sz="2000"/>
              <a:t>Chọn theo bánh xe Roulete</a:t>
            </a:r>
            <a:endParaRPr/>
          </a:p>
          <a:p>
            <a:pPr indent="-228600" lvl="1" marL="685800" rtl="0" algn="l">
              <a:lnSpc>
                <a:spcPct val="90000"/>
              </a:lnSpc>
              <a:spcBef>
                <a:spcPts val="500"/>
              </a:spcBef>
              <a:spcAft>
                <a:spcPts val="0"/>
              </a:spcAft>
              <a:buClr>
                <a:schemeClr val="dk1"/>
              </a:buClr>
              <a:buSzPts val="2000"/>
              <a:buChar char="•"/>
            </a:pPr>
            <a:r>
              <a:rPr lang="en-US" sz="2000"/>
              <a:t>Chọn lọc giao đấu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 name="Google Shape;106;p8"/>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6. Chiến lược chọn lọc sinh tồn</a:t>
            </a:r>
            <a:endParaRPr/>
          </a:p>
        </p:txBody>
      </p:sp>
      <p:sp>
        <p:nvSpPr>
          <p:cNvPr id="107" name="Google Shape;107;p8"/>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Các chiến lược chọn lọc sinh tồn được áp dụng:</a:t>
            </a:r>
            <a:endParaRPr/>
          </a:p>
          <a:p>
            <a:pPr indent="-228600" lvl="1" marL="685800" rtl="0" algn="l">
              <a:lnSpc>
                <a:spcPct val="90000"/>
              </a:lnSpc>
              <a:spcBef>
                <a:spcPts val="500"/>
              </a:spcBef>
              <a:spcAft>
                <a:spcPts val="0"/>
              </a:spcAft>
              <a:buClr>
                <a:schemeClr val="dk1"/>
              </a:buClr>
              <a:buSzPts val="2000"/>
              <a:buChar char="•"/>
            </a:pPr>
            <a:r>
              <a:rPr lang="en-US" sz="2000"/>
              <a:t>Chọn lọc xén (truncation selection)</a:t>
            </a:r>
            <a:endParaRPr/>
          </a:p>
          <a:p>
            <a:pPr indent="-228600" lvl="1" marL="685800" rtl="0" algn="l">
              <a:lnSpc>
                <a:spcPct val="90000"/>
              </a:lnSpc>
              <a:spcBef>
                <a:spcPts val="500"/>
              </a:spcBef>
              <a:spcAft>
                <a:spcPts val="0"/>
              </a:spcAft>
              <a:buClr>
                <a:schemeClr val="dk1"/>
              </a:buClr>
              <a:buSzPts val="2000"/>
              <a:buChar char="•"/>
            </a:pPr>
            <a:r>
              <a:rPr lang="en-US" sz="2000"/>
              <a:t>Chọn lọc theo vòng quay Roulete</a:t>
            </a:r>
            <a:endParaRPr/>
          </a:p>
          <a:p>
            <a:pPr indent="-228600" lvl="1" marL="685800" rtl="0" algn="l">
              <a:lnSpc>
                <a:spcPct val="90000"/>
              </a:lnSpc>
              <a:spcBef>
                <a:spcPts val="500"/>
              </a:spcBef>
              <a:spcAft>
                <a:spcPts val="0"/>
              </a:spcAft>
              <a:buClr>
                <a:schemeClr val="dk1"/>
              </a:buClr>
              <a:buSzPts val="2000"/>
              <a:buChar char="•"/>
            </a:pPr>
            <a:r>
              <a:rPr lang="en-US" sz="2000"/>
              <a:t>Chọn lọc theo kiểu rải - Stochastic Universal Sampling – SUS</a:t>
            </a:r>
            <a:endParaRPr/>
          </a:p>
          <a:p>
            <a:pPr indent="-228600" lvl="1" marL="685800" rtl="0" algn="l">
              <a:lnSpc>
                <a:spcPct val="90000"/>
              </a:lnSpc>
              <a:spcBef>
                <a:spcPts val="500"/>
              </a:spcBef>
              <a:spcAft>
                <a:spcPts val="0"/>
              </a:spcAft>
              <a:buClr>
                <a:schemeClr val="dk1"/>
              </a:buClr>
              <a:buSzPts val="2000"/>
              <a:buChar char="•"/>
            </a:pPr>
            <a:r>
              <a:rPr lang="en-US" sz="2000"/>
              <a:t>Chọn lọc tuyến tính</a:t>
            </a:r>
            <a:endParaRPr/>
          </a:p>
          <a:p>
            <a:pPr indent="-228600" lvl="1" marL="685800" rtl="0" algn="l">
              <a:lnSpc>
                <a:spcPct val="90000"/>
              </a:lnSpc>
              <a:spcBef>
                <a:spcPts val="500"/>
              </a:spcBef>
              <a:spcAft>
                <a:spcPts val="0"/>
              </a:spcAft>
              <a:buClr>
                <a:schemeClr val="dk1"/>
              </a:buClr>
              <a:buSzPts val="2000"/>
              <a:buChar char="•"/>
            </a:pPr>
            <a:r>
              <a:rPr lang="en-US" sz="2000"/>
              <a:t>Chọn lọc theo giao đấu</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9"/>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7. Chạy demo</a:t>
            </a:r>
            <a:endParaRPr/>
          </a:p>
        </p:txBody>
      </p:sp>
      <p:sp>
        <p:nvSpPr>
          <p:cNvPr id="114" name="Google Shape;114;p9"/>
          <p:cNvSpPr txBox="1"/>
          <p:nvPr/>
        </p:nvSpPr>
        <p:spPr>
          <a:xfrm>
            <a:off x="4826000" y="1260347"/>
            <a:ext cx="217841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crossoverRate=0.7,</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mutationRate=0.2,</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generations=300,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maximumLoop=50</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5" name="Google Shape;115;p9"/>
          <p:cNvPicPr preferRelativeResize="0"/>
          <p:nvPr/>
        </p:nvPicPr>
        <p:blipFill rotWithShape="1">
          <a:blip r:embed="rId3">
            <a:alphaModFix/>
          </a:blip>
          <a:srcRect b="0" l="0" r="0" t="0"/>
          <a:stretch/>
        </p:blipFill>
        <p:spPr>
          <a:xfrm>
            <a:off x="602269" y="1260347"/>
            <a:ext cx="4096322" cy="27340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1" name="Google Shape;121;p10"/>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7. Chạy demo</a:t>
            </a:r>
            <a:endParaRPr/>
          </a:p>
        </p:txBody>
      </p:sp>
      <p:pic>
        <p:nvPicPr>
          <p:cNvPr id="122" name="Google Shape;122;p10"/>
          <p:cNvPicPr preferRelativeResize="0"/>
          <p:nvPr/>
        </p:nvPicPr>
        <p:blipFill rotWithShape="1">
          <a:blip r:embed="rId3">
            <a:alphaModFix/>
          </a:blip>
          <a:srcRect b="0" l="0" r="0" t="0"/>
          <a:stretch/>
        </p:blipFill>
        <p:spPr>
          <a:xfrm>
            <a:off x="38335" y="1314438"/>
            <a:ext cx="2943373" cy="2305642"/>
          </a:xfrm>
          <a:prstGeom prst="rect">
            <a:avLst/>
          </a:prstGeom>
          <a:noFill/>
          <a:ln>
            <a:noFill/>
          </a:ln>
        </p:spPr>
      </p:pic>
      <p:sp>
        <p:nvSpPr>
          <p:cNvPr id="123" name="Google Shape;123;p10"/>
          <p:cNvSpPr txBox="1"/>
          <p:nvPr/>
        </p:nvSpPr>
        <p:spPr>
          <a:xfrm>
            <a:off x="447040" y="4374436"/>
            <a:ext cx="280954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fmethod="std",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smethod="roulete",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cmethod="ox",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svmethod="tournament",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4" name="Google Shape;124;p10"/>
          <p:cNvPicPr preferRelativeResize="0"/>
          <p:nvPr/>
        </p:nvPicPr>
        <p:blipFill rotWithShape="1">
          <a:blip r:embed="rId4">
            <a:alphaModFix/>
          </a:blip>
          <a:srcRect b="0" l="0" r="0" t="0"/>
          <a:stretch/>
        </p:blipFill>
        <p:spPr>
          <a:xfrm>
            <a:off x="3038038" y="1366612"/>
            <a:ext cx="2943373" cy="2195400"/>
          </a:xfrm>
          <a:prstGeom prst="rect">
            <a:avLst/>
          </a:prstGeom>
          <a:noFill/>
          <a:ln>
            <a:noFill/>
          </a:ln>
        </p:spPr>
      </p:pic>
      <p:sp>
        <p:nvSpPr>
          <p:cNvPr id="125" name="Google Shape;125;p10"/>
          <p:cNvSpPr txBox="1"/>
          <p:nvPr/>
        </p:nvSpPr>
        <p:spPr>
          <a:xfrm>
            <a:off x="3516229" y="4216400"/>
            <a:ext cx="255961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fmethod="std",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cmethod="pmx",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svmethod="truncation",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6" name="Google Shape;126;p10"/>
          <p:cNvPicPr preferRelativeResize="0"/>
          <p:nvPr/>
        </p:nvPicPr>
        <p:blipFill rotWithShape="1">
          <a:blip r:embed="rId5">
            <a:alphaModFix/>
          </a:blip>
          <a:srcRect b="0" l="0" r="0" t="0"/>
          <a:stretch/>
        </p:blipFill>
        <p:spPr>
          <a:xfrm>
            <a:off x="5982539" y="1245597"/>
            <a:ext cx="2942244" cy="2305642"/>
          </a:xfrm>
          <a:prstGeom prst="rect">
            <a:avLst/>
          </a:prstGeom>
          <a:noFill/>
          <a:ln>
            <a:noFill/>
          </a:ln>
        </p:spPr>
      </p:pic>
      <p:sp>
        <p:nvSpPr>
          <p:cNvPr id="127" name="Google Shape;127;p10"/>
          <p:cNvSpPr txBox="1"/>
          <p:nvPr/>
        </p:nvSpPr>
        <p:spPr>
          <a:xfrm>
            <a:off x="6222791" y="4188169"/>
            <a:ext cx="271343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fmethod="std",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mmethod="scramble",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cmethod="pmx",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svmethod="truncation",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9884b74e3e_0_0"/>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g39884b74e3e_0_0"/>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7. Chạy demo</a:t>
            </a:r>
            <a:endParaRPr/>
          </a:p>
        </p:txBody>
      </p:sp>
      <p:sp>
        <p:nvSpPr>
          <p:cNvPr id="134" name="Google Shape;134;g39884b74e3e_0_0"/>
          <p:cNvSpPr txBox="1"/>
          <p:nvPr/>
        </p:nvSpPr>
        <p:spPr>
          <a:xfrm>
            <a:off x="447040" y="4374436"/>
            <a:ext cx="28095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fmethod="std",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cmethod="ox",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svmethod="tournament",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g39884b74e3e_0_0"/>
          <p:cNvSpPr txBox="1"/>
          <p:nvPr/>
        </p:nvSpPr>
        <p:spPr>
          <a:xfrm>
            <a:off x="3516229" y="4216400"/>
            <a:ext cx="25596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fmethod="std",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cmethod="ox",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svmethod="truncation",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g39884b74e3e_0_0"/>
          <p:cNvSpPr txBox="1"/>
          <p:nvPr/>
        </p:nvSpPr>
        <p:spPr>
          <a:xfrm>
            <a:off x="6222791" y="4188169"/>
            <a:ext cx="27135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fmethod="std",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cmethod="cx",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svmethod="</a:t>
            </a:r>
            <a:r>
              <a:rPr lang="en-US" sz="1800">
                <a:solidFill>
                  <a:schemeClr val="dk1"/>
                </a:solidFill>
                <a:latin typeface="Calibri"/>
                <a:ea typeface="Calibri"/>
                <a:cs typeface="Calibri"/>
                <a:sym typeface="Calibri"/>
              </a:rPr>
              <a:t>tournament</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7" name="Google Shape;137;g39884b74e3e_0_0"/>
          <p:cNvPicPr preferRelativeResize="0"/>
          <p:nvPr/>
        </p:nvPicPr>
        <p:blipFill>
          <a:blip r:embed="rId3">
            <a:alphaModFix/>
          </a:blip>
          <a:stretch>
            <a:fillRect/>
          </a:stretch>
        </p:blipFill>
        <p:spPr>
          <a:xfrm>
            <a:off x="206325" y="1469451"/>
            <a:ext cx="2909269" cy="2092576"/>
          </a:xfrm>
          <a:prstGeom prst="rect">
            <a:avLst/>
          </a:prstGeom>
          <a:noFill/>
          <a:ln>
            <a:noFill/>
          </a:ln>
        </p:spPr>
      </p:pic>
      <p:pic>
        <p:nvPicPr>
          <p:cNvPr id="138" name="Google Shape;138;g39884b74e3e_0_0"/>
          <p:cNvPicPr preferRelativeResize="0"/>
          <p:nvPr/>
        </p:nvPicPr>
        <p:blipFill>
          <a:blip r:embed="rId4">
            <a:alphaModFix/>
          </a:blip>
          <a:stretch>
            <a:fillRect/>
          </a:stretch>
        </p:blipFill>
        <p:spPr>
          <a:xfrm>
            <a:off x="3154700" y="1532675"/>
            <a:ext cx="2793576" cy="1971525"/>
          </a:xfrm>
          <a:prstGeom prst="rect">
            <a:avLst/>
          </a:prstGeom>
          <a:noFill/>
          <a:ln>
            <a:noFill/>
          </a:ln>
        </p:spPr>
      </p:pic>
      <p:pic>
        <p:nvPicPr>
          <p:cNvPr id="139" name="Google Shape;139;g39884b74e3e_0_0"/>
          <p:cNvPicPr preferRelativeResize="0"/>
          <p:nvPr/>
        </p:nvPicPr>
        <p:blipFill>
          <a:blip r:embed="rId5">
            <a:alphaModFix/>
          </a:blip>
          <a:stretch>
            <a:fillRect/>
          </a:stretch>
        </p:blipFill>
        <p:spPr>
          <a:xfrm>
            <a:off x="5923625" y="1443125"/>
            <a:ext cx="2985350" cy="20839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a99285e230_1_0"/>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Google Shape;145;g3a99285e230_1_0"/>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7. Chạy demo</a:t>
            </a:r>
            <a:endParaRPr/>
          </a:p>
        </p:txBody>
      </p:sp>
      <p:sp>
        <p:nvSpPr>
          <p:cNvPr id="146" name="Google Shape;146;g3a99285e230_1_0"/>
          <p:cNvSpPr txBox="1"/>
          <p:nvPr/>
        </p:nvSpPr>
        <p:spPr>
          <a:xfrm>
            <a:off x="447040" y="4374436"/>
            <a:ext cx="28095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fmethod="std",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cmethod="ox",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svmethod="tournament",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g3a99285e230_1_0"/>
          <p:cNvSpPr txBox="1"/>
          <p:nvPr/>
        </p:nvSpPr>
        <p:spPr>
          <a:xfrm>
            <a:off x="3516229" y="4216400"/>
            <a:ext cx="25596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fmethod="std",</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cmethod="ox",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svmethod="truncation",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g3a99285e230_1_0"/>
          <p:cNvSpPr txBox="1"/>
          <p:nvPr/>
        </p:nvSpPr>
        <p:spPr>
          <a:xfrm>
            <a:off x="6222791" y="4188169"/>
            <a:ext cx="27135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fmethod="std",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smethod="tournament",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mmethod="inversion",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cmethod="cx",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svmethod="tournament",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9" name="Google Shape;149;g3a99285e230_1_0"/>
          <p:cNvPicPr preferRelativeResize="0"/>
          <p:nvPr/>
        </p:nvPicPr>
        <p:blipFill>
          <a:blip r:embed="rId3">
            <a:alphaModFix/>
          </a:blip>
          <a:stretch>
            <a:fillRect/>
          </a:stretch>
        </p:blipFill>
        <p:spPr>
          <a:xfrm>
            <a:off x="206325" y="1469451"/>
            <a:ext cx="2909269" cy="2092576"/>
          </a:xfrm>
          <a:prstGeom prst="rect">
            <a:avLst/>
          </a:prstGeom>
          <a:noFill/>
          <a:ln>
            <a:noFill/>
          </a:ln>
        </p:spPr>
      </p:pic>
      <p:pic>
        <p:nvPicPr>
          <p:cNvPr id="150" name="Google Shape;150;g3a99285e230_1_0"/>
          <p:cNvPicPr preferRelativeResize="0"/>
          <p:nvPr/>
        </p:nvPicPr>
        <p:blipFill>
          <a:blip r:embed="rId4">
            <a:alphaModFix/>
          </a:blip>
          <a:stretch>
            <a:fillRect/>
          </a:stretch>
        </p:blipFill>
        <p:spPr>
          <a:xfrm>
            <a:off x="3154700" y="1532675"/>
            <a:ext cx="2793576" cy="1971525"/>
          </a:xfrm>
          <a:prstGeom prst="rect">
            <a:avLst/>
          </a:prstGeom>
          <a:noFill/>
          <a:ln>
            <a:noFill/>
          </a:ln>
        </p:spPr>
      </p:pic>
      <p:pic>
        <p:nvPicPr>
          <p:cNvPr id="151" name="Google Shape;151;g3a99285e230_1_0"/>
          <p:cNvPicPr preferRelativeResize="0"/>
          <p:nvPr/>
        </p:nvPicPr>
        <p:blipFill>
          <a:blip r:embed="rId5">
            <a:alphaModFix/>
          </a:blip>
          <a:stretch>
            <a:fillRect/>
          </a:stretch>
        </p:blipFill>
        <p:spPr>
          <a:xfrm>
            <a:off x="5923625" y="1443125"/>
            <a:ext cx="2985350" cy="20839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a99285e230_0_22"/>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g3a99285e230_0_22"/>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8. PSO</a:t>
            </a:r>
            <a:endParaRPr/>
          </a:p>
        </p:txBody>
      </p:sp>
      <p:sp>
        <p:nvSpPr>
          <p:cNvPr id="158" name="Google Shape;158;g3a99285e230_0_22"/>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159" name="Google Shape;159;g3a99285e230_0_22"/>
          <p:cNvSpPr txBox="1"/>
          <p:nvPr/>
        </p:nvSpPr>
        <p:spPr>
          <a:xfrm>
            <a:off x="3507325" y="22918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160" name="Google Shape;160;g3a99285e230_0_22"/>
          <p:cNvSpPr txBox="1"/>
          <p:nvPr/>
        </p:nvSpPr>
        <p:spPr>
          <a:xfrm>
            <a:off x="339225" y="871025"/>
            <a:ext cx="6861600" cy="29322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Các bước của thuật toán PSO: </a:t>
            </a:r>
            <a:endParaRPr sz="1500">
              <a:solidFill>
                <a:schemeClr val="dk1"/>
              </a:solidFill>
            </a:endParaRPr>
          </a:p>
          <a:p>
            <a:pPr indent="0" lvl="0" marL="457200" rtl="0" algn="l">
              <a:lnSpc>
                <a:spcPct val="115000"/>
              </a:lnSpc>
              <a:spcBef>
                <a:spcPts val="1200"/>
              </a:spcBef>
              <a:spcAft>
                <a:spcPts val="0"/>
              </a:spcAft>
              <a:buNone/>
            </a:pPr>
            <a:r>
              <a:rPr lang="en-US" sz="1500">
                <a:solidFill>
                  <a:schemeClr val="dk1"/>
                </a:solidFill>
              </a:rPr>
              <a:t>1. Khởi tạo một bầy gồm N cá thể </a:t>
            </a:r>
            <a:endParaRPr sz="1500">
              <a:solidFill>
                <a:schemeClr val="dk1"/>
              </a:solidFill>
            </a:endParaRPr>
          </a:p>
          <a:p>
            <a:pPr indent="0" lvl="0" marL="457200" rtl="0" algn="l">
              <a:lnSpc>
                <a:spcPct val="115000"/>
              </a:lnSpc>
              <a:spcBef>
                <a:spcPts val="1200"/>
              </a:spcBef>
              <a:spcAft>
                <a:spcPts val="0"/>
              </a:spcAft>
              <a:buNone/>
            </a:pPr>
            <a:r>
              <a:rPr lang="en-US" sz="1500">
                <a:solidFill>
                  <a:schemeClr val="dk1"/>
                </a:solidFill>
              </a:rPr>
              <a:t>2. Đánh giá độ thích nghi của mỗi cá thể trong bầy </a:t>
            </a:r>
            <a:endParaRPr sz="1500">
              <a:solidFill>
                <a:schemeClr val="dk1"/>
              </a:solidFill>
            </a:endParaRPr>
          </a:p>
          <a:p>
            <a:pPr indent="0" lvl="0" marL="457200" rtl="0" algn="l">
              <a:lnSpc>
                <a:spcPct val="115000"/>
              </a:lnSpc>
              <a:spcBef>
                <a:spcPts val="1200"/>
              </a:spcBef>
              <a:spcAft>
                <a:spcPts val="0"/>
              </a:spcAft>
              <a:buNone/>
            </a:pPr>
            <a:r>
              <a:rPr lang="en-US" sz="1500">
                <a:solidFill>
                  <a:schemeClr val="dk1"/>
                </a:solidFill>
              </a:rPr>
              <a:t>3. Cập nhật vị trí tốt nhất (kinh nghiệm) pbest của mỗi cá thể . </a:t>
            </a:r>
            <a:endParaRPr sz="1500">
              <a:solidFill>
                <a:schemeClr val="dk1"/>
              </a:solidFill>
            </a:endParaRPr>
          </a:p>
          <a:p>
            <a:pPr indent="0" lvl="0" marL="457200" rtl="0" algn="l">
              <a:lnSpc>
                <a:spcPct val="115000"/>
              </a:lnSpc>
              <a:spcBef>
                <a:spcPts val="1200"/>
              </a:spcBef>
              <a:spcAft>
                <a:spcPts val="0"/>
              </a:spcAft>
              <a:buNone/>
            </a:pPr>
            <a:r>
              <a:rPr lang="en-US" sz="1500">
                <a:solidFill>
                  <a:schemeClr val="dk1"/>
                </a:solidFill>
              </a:rPr>
              <a:t>4. Cập nhật vị trí của cá thể tốt nhất gbest của trong bầy đàn. </a:t>
            </a:r>
            <a:endParaRPr sz="1500">
              <a:solidFill>
                <a:schemeClr val="dk1"/>
              </a:solidFill>
            </a:endParaRPr>
          </a:p>
          <a:p>
            <a:pPr indent="0" lvl="0" marL="457200" rtl="0" algn="l">
              <a:lnSpc>
                <a:spcPct val="115000"/>
              </a:lnSpc>
              <a:spcBef>
                <a:spcPts val="1200"/>
              </a:spcBef>
              <a:spcAft>
                <a:spcPts val="0"/>
              </a:spcAft>
              <a:buNone/>
            </a:pPr>
            <a:r>
              <a:rPr lang="en-US" sz="1500">
                <a:solidFill>
                  <a:schemeClr val="dk1"/>
                </a:solidFill>
              </a:rPr>
              <a:t>5. Cập nhật vận tốc và vị trí của mỗi cá thể theo pbest và gbest</a:t>
            </a:r>
            <a:endParaRPr sz="1500">
              <a:solidFill>
                <a:schemeClr val="dk1"/>
              </a:solidFill>
            </a:endParaRPr>
          </a:p>
          <a:p>
            <a:pPr indent="0" lvl="0" marL="457200" rtl="0" algn="l">
              <a:lnSpc>
                <a:spcPct val="115000"/>
              </a:lnSpc>
              <a:spcBef>
                <a:spcPts val="1200"/>
              </a:spcBef>
              <a:spcAft>
                <a:spcPts val="1200"/>
              </a:spcAft>
              <a:buNone/>
            </a:pPr>
            <a:r>
              <a:rPr lang="en-US" sz="1500">
                <a:solidFill>
                  <a:schemeClr val="dk1"/>
                </a:solidFill>
              </a:rPr>
              <a:t>6. Quay lại bước 2, và lặp cho đến khi thỏa mãn điều kiện dừng</a:t>
            </a:r>
            <a:endParaRPr sz="1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a99285e230_1_17"/>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6" name="Google Shape;166;g3a99285e230_1_17"/>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8. PSO</a:t>
            </a:r>
            <a:endParaRPr/>
          </a:p>
        </p:txBody>
      </p:sp>
      <p:sp>
        <p:nvSpPr>
          <p:cNvPr id="167" name="Google Shape;167;g3a99285e230_1_17"/>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168" name="Google Shape;168;g3a99285e230_1_17"/>
          <p:cNvSpPr txBox="1"/>
          <p:nvPr/>
        </p:nvSpPr>
        <p:spPr>
          <a:xfrm>
            <a:off x="3507325" y="22918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169" name="Google Shape;169;g3a99285e230_1_17"/>
          <p:cNvSpPr txBox="1"/>
          <p:nvPr/>
        </p:nvSpPr>
        <p:spPr>
          <a:xfrm>
            <a:off x="339225" y="871025"/>
            <a:ext cx="6861600" cy="30492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400"/>
              </a:spcBef>
              <a:spcAft>
                <a:spcPts val="0"/>
              </a:spcAft>
              <a:buClr>
                <a:schemeClr val="dk1"/>
              </a:buClr>
              <a:buSzPts val="1500"/>
              <a:buChar char="-"/>
            </a:pPr>
            <a:r>
              <a:rPr lang="en-US" sz="1500">
                <a:solidFill>
                  <a:schemeClr val="dk1"/>
                </a:solidFill>
              </a:rPr>
              <a:t>Ý tưởng: </a:t>
            </a:r>
            <a:r>
              <a:rPr lang="en-US" sz="1300">
                <a:solidFill>
                  <a:schemeClr val="dk1"/>
                </a:solidFill>
              </a:rPr>
              <a:t>Trong TSP, PSO thường dùng biểu diễn rời rạc như:</a:t>
            </a:r>
            <a:endParaRPr sz="1300">
              <a:solidFill>
                <a:schemeClr val="dk1"/>
              </a:solidFill>
            </a:endParaRPr>
          </a:p>
          <a:p>
            <a:pPr indent="-311150" lvl="0" marL="914400" rtl="0" algn="l">
              <a:lnSpc>
                <a:spcPct val="115000"/>
              </a:lnSpc>
              <a:spcBef>
                <a:spcPts val="0"/>
              </a:spcBef>
              <a:spcAft>
                <a:spcPts val="0"/>
              </a:spcAft>
              <a:buClr>
                <a:schemeClr val="dk1"/>
              </a:buClr>
              <a:buSzPts val="1300"/>
              <a:buChar char="●"/>
            </a:pPr>
            <a:r>
              <a:rPr lang="en-US" sz="1300">
                <a:solidFill>
                  <a:schemeClr val="dk1"/>
                </a:solidFill>
              </a:rPr>
              <a:t>Swap sequence</a:t>
            </a:r>
            <a:endParaRPr sz="1300">
              <a:solidFill>
                <a:schemeClr val="dk1"/>
              </a:solidFill>
            </a:endParaRPr>
          </a:p>
          <a:p>
            <a:pPr indent="-311150" lvl="0" marL="914400" rtl="0" algn="l">
              <a:lnSpc>
                <a:spcPct val="115000"/>
              </a:lnSpc>
              <a:spcBef>
                <a:spcPts val="0"/>
              </a:spcBef>
              <a:spcAft>
                <a:spcPts val="0"/>
              </a:spcAft>
              <a:buClr>
                <a:schemeClr val="dk1"/>
              </a:buClr>
              <a:buSzPts val="1300"/>
              <a:buChar char="●"/>
            </a:pPr>
            <a:r>
              <a:rPr lang="en-US" sz="1300">
                <a:solidFill>
                  <a:schemeClr val="dk1"/>
                </a:solidFill>
              </a:rPr>
              <a:t>Velocity = tập các thao tác hoán đổi</a:t>
            </a:r>
            <a:endParaRPr sz="1300">
              <a:solidFill>
                <a:schemeClr val="dk1"/>
              </a:solidFill>
            </a:endParaRPr>
          </a:p>
          <a:p>
            <a:pPr indent="-311150" lvl="0" marL="914400" rtl="0" algn="l">
              <a:lnSpc>
                <a:spcPct val="115000"/>
              </a:lnSpc>
              <a:spcBef>
                <a:spcPts val="0"/>
              </a:spcBef>
              <a:spcAft>
                <a:spcPts val="0"/>
              </a:spcAft>
              <a:buClr>
                <a:schemeClr val="dk1"/>
              </a:buClr>
              <a:buSzPts val="1300"/>
              <a:buChar char="●"/>
            </a:pPr>
            <a:r>
              <a:rPr lang="en-US" sz="1300">
                <a:solidFill>
                  <a:schemeClr val="dk1"/>
                </a:solidFill>
              </a:rPr>
              <a:t>Position = permutation</a:t>
            </a:r>
            <a:endParaRPr sz="13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Cập nhật vận tốc:</a:t>
            </a:r>
            <a:endParaRPr sz="1500">
              <a:solidFill>
                <a:schemeClr val="dk1"/>
              </a:solidFill>
            </a:endParaRPr>
          </a:p>
          <a:p>
            <a:pPr indent="0" lvl="0" marL="0" rtl="0" algn="l">
              <a:lnSpc>
                <a:spcPct val="115000"/>
              </a:lnSpc>
              <a:spcBef>
                <a:spcPts val="1200"/>
              </a:spcBef>
              <a:spcAft>
                <a:spcPts val="0"/>
              </a:spcAft>
              <a:buNone/>
            </a:pPr>
            <a:r>
              <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Cập nhật vị trí:</a:t>
            </a:r>
            <a:endParaRPr sz="1500">
              <a:solidFill>
                <a:schemeClr val="dk1"/>
              </a:solidFill>
            </a:endParaRPr>
          </a:p>
          <a:p>
            <a:pPr indent="0" lvl="0" marL="0" rtl="0" algn="l">
              <a:lnSpc>
                <a:spcPct val="115000"/>
              </a:lnSpc>
              <a:spcBef>
                <a:spcPts val="1200"/>
              </a:spcBef>
              <a:spcAft>
                <a:spcPts val="0"/>
              </a:spcAft>
              <a:buNone/>
            </a:pPr>
            <a:r>
              <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Đánh giá nghiệm:</a:t>
            </a:r>
            <a:endParaRPr sz="1500">
              <a:solidFill>
                <a:schemeClr val="dk1"/>
              </a:solidFill>
            </a:endParaRPr>
          </a:p>
        </p:txBody>
      </p:sp>
      <p:pic>
        <p:nvPicPr>
          <p:cNvPr id="170" name="Google Shape;170;g3a99285e230_1_17"/>
          <p:cNvPicPr preferRelativeResize="0"/>
          <p:nvPr/>
        </p:nvPicPr>
        <p:blipFill>
          <a:blip r:embed="rId3">
            <a:alphaModFix/>
          </a:blip>
          <a:stretch>
            <a:fillRect/>
          </a:stretch>
        </p:blipFill>
        <p:spPr>
          <a:xfrm>
            <a:off x="2566825" y="1955012"/>
            <a:ext cx="4425916" cy="540625"/>
          </a:xfrm>
          <a:prstGeom prst="rect">
            <a:avLst/>
          </a:prstGeom>
          <a:noFill/>
          <a:ln>
            <a:noFill/>
          </a:ln>
        </p:spPr>
      </p:pic>
      <p:pic>
        <p:nvPicPr>
          <p:cNvPr id="171" name="Google Shape;171;g3a99285e230_1_17"/>
          <p:cNvPicPr preferRelativeResize="0"/>
          <p:nvPr/>
        </p:nvPicPr>
        <p:blipFill>
          <a:blip r:embed="rId4">
            <a:alphaModFix/>
          </a:blip>
          <a:stretch>
            <a:fillRect/>
          </a:stretch>
        </p:blipFill>
        <p:spPr>
          <a:xfrm>
            <a:off x="2733850" y="2865225"/>
            <a:ext cx="1740093" cy="518975"/>
          </a:xfrm>
          <a:prstGeom prst="rect">
            <a:avLst/>
          </a:prstGeom>
          <a:noFill/>
          <a:ln>
            <a:noFill/>
          </a:ln>
        </p:spPr>
      </p:pic>
      <p:pic>
        <p:nvPicPr>
          <p:cNvPr id="172" name="Google Shape;172;g3a99285e230_1_17"/>
          <p:cNvPicPr preferRelativeResize="0"/>
          <p:nvPr/>
        </p:nvPicPr>
        <p:blipFill>
          <a:blip r:embed="rId5">
            <a:alphaModFix/>
          </a:blip>
          <a:stretch>
            <a:fillRect/>
          </a:stretch>
        </p:blipFill>
        <p:spPr>
          <a:xfrm>
            <a:off x="2801463" y="3920200"/>
            <a:ext cx="3541080" cy="384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a99285e230_0_38"/>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8" name="Google Shape;178;g3a99285e230_0_38"/>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8. GA - PSO</a:t>
            </a:r>
            <a:endParaRPr/>
          </a:p>
        </p:txBody>
      </p:sp>
      <p:sp>
        <p:nvSpPr>
          <p:cNvPr id="179" name="Google Shape;179;g3a99285e230_0_38"/>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180" name="Google Shape;180;g3a99285e230_0_38"/>
          <p:cNvSpPr txBox="1"/>
          <p:nvPr/>
        </p:nvSpPr>
        <p:spPr>
          <a:xfrm>
            <a:off x="3507325" y="22918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181" name="Google Shape;181;g3a99285e230_0_38"/>
          <p:cNvSpPr txBox="1"/>
          <p:nvPr/>
        </p:nvSpPr>
        <p:spPr>
          <a:xfrm>
            <a:off x="339225" y="871025"/>
            <a:ext cx="6861600" cy="32247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400"/>
              </a:spcBef>
              <a:spcAft>
                <a:spcPts val="0"/>
              </a:spcAft>
              <a:buClr>
                <a:schemeClr val="dk1"/>
              </a:buClr>
              <a:buSzPts val="1500"/>
              <a:buChar char="●"/>
            </a:pPr>
            <a:r>
              <a:rPr lang="en-US" sz="1500">
                <a:solidFill>
                  <a:schemeClr val="dk1"/>
                </a:solidFill>
              </a:rPr>
              <a:t>Ý tưởng: </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Kết hợp nhưng lợi thế của trí thông minh bầy đàn và chiến lược chọn lọc tự nhiên</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Tăng tốc khả năng hội tụ của thuật toán</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Tạo ra được những cá thể có mã gene mới</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Thay thế các cá thể có độ thích nghi thấp bằng cá thể có độ thích nghi cao hơn với một tỷ lệ thay thế</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Ứng dụng GA:</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Crossover: OX (prob=0.5)</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Mutation: Reverse (prob=0.2)</a:t>
            </a:r>
            <a:endParaRPr sz="1500">
              <a:solidFill>
                <a:schemeClr val="dk1"/>
              </a:solidFill>
            </a:endParaRPr>
          </a:p>
          <a:p>
            <a:pPr indent="0" lvl="0" marL="0" rtl="0" algn="l">
              <a:lnSpc>
                <a:spcPct val="115000"/>
              </a:lnSpc>
              <a:spcBef>
                <a:spcPts val="1200"/>
              </a:spcBef>
              <a:spcAft>
                <a:spcPts val="1200"/>
              </a:spcAft>
              <a:buNone/>
            </a:pPr>
            <a:r>
              <a:t/>
            </a:r>
            <a:endParaRPr sz="15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a99285e230_0_0"/>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7" name="Google Shape;187;g3a99285e230_0_0"/>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8. Chạy demo</a:t>
            </a:r>
            <a:endParaRPr/>
          </a:p>
        </p:txBody>
      </p:sp>
      <p:sp>
        <p:nvSpPr>
          <p:cNvPr id="188" name="Google Shape;188;g3a99285e230_0_0"/>
          <p:cNvSpPr txBox="1"/>
          <p:nvPr/>
        </p:nvSpPr>
        <p:spPr>
          <a:xfrm>
            <a:off x="1062526" y="4216425"/>
            <a:ext cx="2747400" cy="1884000"/>
          </a:xfrm>
          <a:prstGeom prst="rect">
            <a:avLst/>
          </a:prstGeom>
          <a:noFill/>
          <a:ln>
            <a:noFill/>
          </a:ln>
        </p:spPr>
        <p:txBody>
          <a:bodyPr anchorCtr="0" anchor="t" bIns="45700" lIns="91425" spcFirstLastPara="1" rIns="91425" wrap="square" tIns="45700">
            <a:spAutoFit/>
          </a:bodyPr>
          <a:lstStyle/>
          <a:p>
            <a:pPr indent="0" lvl="0" marL="0" rtl="0" algn="l">
              <a:lnSpc>
                <a:spcPct val="135714"/>
              </a:lnSpc>
              <a:spcBef>
                <a:spcPts val="0"/>
              </a:spcBef>
              <a:spcAft>
                <a:spcPts val="0"/>
              </a:spcAft>
              <a:buSzPts val="1100"/>
              <a:buNone/>
            </a:pPr>
            <a:r>
              <a:rPr b="1" lang="en-US" sz="1450">
                <a:solidFill>
                  <a:srgbClr val="9CDCFE"/>
                </a:solidFill>
                <a:highlight>
                  <a:srgbClr val="1F1F1F"/>
                </a:highlight>
                <a:latin typeface="Courier New"/>
                <a:ea typeface="Courier New"/>
                <a:cs typeface="Courier New"/>
                <a:sym typeface="Courier New"/>
              </a:rPr>
              <a:t>pop_size</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200</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b="1" lang="en-US" sz="1450">
                <a:solidFill>
                  <a:srgbClr val="9CDCFE"/>
                </a:solidFill>
                <a:highlight>
                  <a:srgbClr val="1F1F1F"/>
                </a:highlight>
                <a:latin typeface="Courier New"/>
                <a:ea typeface="Courier New"/>
                <a:cs typeface="Courier New"/>
                <a:sym typeface="Courier New"/>
              </a:rPr>
              <a:t>max_iter</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1000</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b="1" lang="en-US" sz="1450">
                <a:solidFill>
                  <a:srgbClr val="9CDCFE"/>
                </a:solidFill>
                <a:highlight>
                  <a:srgbClr val="1F1F1F"/>
                </a:highlight>
                <a:latin typeface="Courier New"/>
                <a:ea typeface="Courier New"/>
                <a:cs typeface="Courier New"/>
                <a:sym typeface="Courier New"/>
              </a:rPr>
              <a:t>limit</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100</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b="1" lang="en-US" sz="1450">
                <a:solidFill>
                  <a:srgbClr val="9CDCFE"/>
                </a:solidFill>
                <a:highlight>
                  <a:srgbClr val="1F1F1F"/>
                </a:highlight>
                <a:latin typeface="Courier New"/>
                <a:ea typeface="Courier New"/>
                <a:cs typeface="Courier New"/>
                <a:sym typeface="Courier New"/>
              </a:rPr>
              <a:t>w</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0.7</a:t>
            </a:r>
            <a:r>
              <a:rPr b="1" lang="en-US" sz="1450">
                <a:solidFill>
                  <a:srgbClr val="CCCCCC"/>
                </a:solidFill>
                <a:highlight>
                  <a:srgbClr val="1F1F1F"/>
                </a:highlight>
                <a:latin typeface="Courier New"/>
                <a:ea typeface="Courier New"/>
                <a:cs typeface="Courier New"/>
                <a:sym typeface="Courier New"/>
              </a:rPr>
              <a:t>, </a:t>
            </a:r>
            <a:r>
              <a:rPr b="1" lang="en-US" sz="1450">
                <a:solidFill>
                  <a:srgbClr val="9CDCFE"/>
                </a:solidFill>
                <a:highlight>
                  <a:srgbClr val="1F1F1F"/>
                </a:highlight>
                <a:latin typeface="Courier New"/>
                <a:ea typeface="Courier New"/>
                <a:cs typeface="Courier New"/>
                <a:sym typeface="Courier New"/>
              </a:rPr>
              <a:t>c1</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0.8</a:t>
            </a:r>
            <a:r>
              <a:rPr b="1" lang="en-US" sz="1450">
                <a:solidFill>
                  <a:srgbClr val="CCCCCC"/>
                </a:solidFill>
                <a:highlight>
                  <a:srgbClr val="1F1F1F"/>
                </a:highlight>
                <a:latin typeface="Courier New"/>
                <a:ea typeface="Courier New"/>
                <a:cs typeface="Courier New"/>
                <a:sym typeface="Courier New"/>
              </a:rPr>
              <a:t>, </a:t>
            </a:r>
            <a:r>
              <a:rPr b="1" lang="en-US" sz="1450">
                <a:solidFill>
                  <a:srgbClr val="9CDCFE"/>
                </a:solidFill>
                <a:highlight>
                  <a:srgbClr val="1F1F1F"/>
                </a:highlight>
                <a:latin typeface="Courier New"/>
                <a:ea typeface="Courier New"/>
                <a:cs typeface="Courier New"/>
                <a:sym typeface="Courier New"/>
              </a:rPr>
              <a:t>c2</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0.8</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SzPts val="1100"/>
              <a:buNone/>
            </a:pPr>
            <a:r>
              <a:rPr b="1" lang="en-US" sz="1450">
                <a:solidFill>
                  <a:srgbClr val="9CDCFE"/>
                </a:solidFill>
                <a:highlight>
                  <a:srgbClr val="1F1F1F"/>
                </a:highlight>
                <a:latin typeface="Courier New"/>
                <a:ea typeface="Courier New"/>
                <a:cs typeface="Courier New"/>
                <a:sym typeface="Courier New"/>
              </a:rPr>
              <a:t>mode</a:t>
            </a:r>
            <a:r>
              <a:rPr b="1" lang="en-US" sz="1450">
                <a:solidFill>
                  <a:srgbClr val="D4D4D4"/>
                </a:solidFill>
                <a:highlight>
                  <a:srgbClr val="1F1F1F"/>
                </a:highlight>
                <a:latin typeface="Courier New"/>
                <a:ea typeface="Courier New"/>
                <a:cs typeface="Courier New"/>
                <a:sym typeface="Courier New"/>
              </a:rPr>
              <a:t>=</a:t>
            </a:r>
            <a:r>
              <a:rPr b="1" lang="en-US" sz="1450">
                <a:solidFill>
                  <a:srgbClr val="CE9178"/>
                </a:solidFill>
                <a:highlight>
                  <a:srgbClr val="1F1F1F"/>
                </a:highlight>
                <a:latin typeface="Courier New"/>
                <a:ea typeface="Courier New"/>
                <a:cs typeface="Courier New"/>
                <a:sym typeface="Courier New"/>
              </a:rPr>
              <a:t>'None'</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89" name="Google Shape;189;g3a99285e230_0_0"/>
          <p:cNvSpPr txBox="1"/>
          <p:nvPr/>
        </p:nvSpPr>
        <p:spPr>
          <a:xfrm>
            <a:off x="5524508" y="4245733"/>
            <a:ext cx="3238500" cy="2160900"/>
          </a:xfrm>
          <a:prstGeom prst="rect">
            <a:avLst/>
          </a:prstGeom>
          <a:noFill/>
          <a:ln>
            <a:noFill/>
          </a:ln>
        </p:spPr>
        <p:txBody>
          <a:bodyPr anchorCtr="0" anchor="t" bIns="45700" lIns="91425" spcFirstLastPara="1" rIns="91425" wrap="square" tIns="45700">
            <a:spAutoFit/>
          </a:bodyPr>
          <a:lstStyle/>
          <a:p>
            <a:pPr indent="0" lvl="0" marL="0" rtl="0" algn="l">
              <a:lnSpc>
                <a:spcPct val="135714"/>
              </a:lnSpc>
              <a:spcBef>
                <a:spcPts val="0"/>
              </a:spcBef>
              <a:spcAft>
                <a:spcPts val="0"/>
              </a:spcAft>
              <a:buClr>
                <a:schemeClr val="dk1"/>
              </a:buClr>
              <a:buSzPts val="1100"/>
              <a:buFont typeface="Arial"/>
              <a:buNone/>
            </a:pPr>
            <a:r>
              <a:rPr b="1" lang="en-US" sz="1450">
                <a:solidFill>
                  <a:srgbClr val="9CDCFE"/>
                </a:solidFill>
                <a:highlight>
                  <a:srgbClr val="1F1F1F"/>
                </a:highlight>
                <a:latin typeface="Courier New"/>
                <a:ea typeface="Courier New"/>
                <a:cs typeface="Courier New"/>
                <a:sym typeface="Courier New"/>
              </a:rPr>
              <a:t>pop_size</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200</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US" sz="1450">
                <a:solidFill>
                  <a:srgbClr val="9CDCFE"/>
                </a:solidFill>
                <a:highlight>
                  <a:srgbClr val="1F1F1F"/>
                </a:highlight>
                <a:latin typeface="Courier New"/>
                <a:ea typeface="Courier New"/>
                <a:cs typeface="Courier New"/>
                <a:sym typeface="Courier New"/>
              </a:rPr>
              <a:t>max_iter</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1000</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US" sz="1450">
                <a:solidFill>
                  <a:srgbClr val="9CDCFE"/>
                </a:solidFill>
                <a:highlight>
                  <a:srgbClr val="1F1F1F"/>
                </a:highlight>
                <a:latin typeface="Courier New"/>
                <a:ea typeface="Courier New"/>
                <a:cs typeface="Courier New"/>
                <a:sym typeface="Courier New"/>
              </a:rPr>
              <a:t>limit</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100</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US" sz="1450">
                <a:solidFill>
                  <a:srgbClr val="9CDCFE"/>
                </a:solidFill>
                <a:highlight>
                  <a:srgbClr val="1F1F1F"/>
                </a:highlight>
                <a:latin typeface="Courier New"/>
                <a:ea typeface="Courier New"/>
                <a:cs typeface="Courier New"/>
                <a:sym typeface="Courier New"/>
              </a:rPr>
              <a:t>w</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0.7</a:t>
            </a:r>
            <a:r>
              <a:rPr b="1" lang="en-US" sz="1450">
                <a:solidFill>
                  <a:srgbClr val="CCCCCC"/>
                </a:solidFill>
                <a:highlight>
                  <a:srgbClr val="1F1F1F"/>
                </a:highlight>
                <a:latin typeface="Courier New"/>
                <a:ea typeface="Courier New"/>
                <a:cs typeface="Courier New"/>
                <a:sym typeface="Courier New"/>
              </a:rPr>
              <a:t>, </a:t>
            </a:r>
            <a:r>
              <a:rPr b="1" lang="en-US" sz="1450">
                <a:solidFill>
                  <a:srgbClr val="9CDCFE"/>
                </a:solidFill>
                <a:highlight>
                  <a:srgbClr val="1F1F1F"/>
                </a:highlight>
                <a:latin typeface="Courier New"/>
                <a:ea typeface="Courier New"/>
                <a:cs typeface="Courier New"/>
                <a:sym typeface="Courier New"/>
              </a:rPr>
              <a:t>c1</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0.8</a:t>
            </a:r>
            <a:r>
              <a:rPr b="1" lang="en-US" sz="1450">
                <a:solidFill>
                  <a:srgbClr val="CCCCCC"/>
                </a:solidFill>
                <a:highlight>
                  <a:srgbClr val="1F1F1F"/>
                </a:highlight>
                <a:latin typeface="Courier New"/>
                <a:ea typeface="Courier New"/>
                <a:cs typeface="Courier New"/>
                <a:sym typeface="Courier New"/>
              </a:rPr>
              <a:t>, </a:t>
            </a:r>
            <a:r>
              <a:rPr b="1" lang="en-US" sz="1450">
                <a:solidFill>
                  <a:srgbClr val="9CDCFE"/>
                </a:solidFill>
                <a:highlight>
                  <a:srgbClr val="1F1F1F"/>
                </a:highlight>
                <a:latin typeface="Courier New"/>
                <a:ea typeface="Courier New"/>
                <a:cs typeface="Courier New"/>
                <a:sym typeface="Courier New"/>
              </a:rPr>
              <a:t>c2</a:t>
            </a:r>
            <a:r>
              <a:rPr b="1" lang="en-US" sz="1450">
                <a:solidFill>
                  <a:srgbClr val="D4D4D4"/>
                </a:solidFill>
                <a:highlight>
                  <a:srgbClr val="1F1F1F"/>
                </a:highlight>
                <a:latin typeface="Courier New"/>
                <a:ea typeface="Courier New"/>
                <a:cs typeface="Courier New"/>
                <a:sym typeface="Courier New"/>
              </a:rPr>
              <a:t>=</a:t>
            </a:r>
            <a:r>
              <a:rPr b="1" lang="en-US" sz="1450">
                <a:solidFill>
                  <a:srgbClr val="B5CEA8"/>
                </a:solidFill>
                <a:highlight>
                  <a:srgbClr val="1F1F1F"/>
                </a:highlight>
                <a:latin typeface="Courier New"/>
                <a:ea typeface="Courier New"/>
                <a:cs typeface="Courier New"/>
                <a:sym typeface="Courier New"/>
              </a:rPr>
              <a:t>0.8</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b="1" lang="en-US" sz="1450">
                <a:solidFill>
                  <a:srgbClr val="9CDCFE"/>
                </a:solidFill>
                <a:highlight>
                  <a:srgbClr val="1F1F1F"/>
                </a:highlight>
                <a:latin typeface="Courier New"/>
                <a:ea typeface="Courier New"/>
                <a:cs typeface="Courier New"/>
                <a:sym typeface="Courier New"/>
              </a:rPr>
              <a:t>mode</a:t>
            </a:r>
            <a:r>
              <a:rPr b="1" lang="en-US" sz="1450">
                <a:solidFill>
                  <a:srgbClr val="D4D4D4"/>
                </a:solidFill>
                <a:highlight>
                  <a:srgbClr val="1F1F1F"/>
                </a:highlight>
                <a:latin typeface="Courier New"/>
                <a:ea typeface="Courier New"/>
                <a:cs typeface="Courier New"/>
                <a:sym typeface="Courier New"/>
              </a:rPr>
              <a:t>=</a:t>
            </a:r>
            <a:r>
              <a:rPr b="1" lang="en-US" sz="1450">
                <a:solidFill>
                  <a:srgbClr val="CE9178"/>
                </a:solidFill>
                <a:highlight>
                  <a:srgbClr val="1F1F1F"/>
                </a:highlight>
                <a:latin typeface="Courier New"/>
                <a:ea typeface="Courier New"/>
                <a:cs typeface="Courier New"/>
                <a:sym typeface="Courier New"/>
              </a:rPr>
              <a:t>'GA'</a:t>
            </a:r>
            <a:r>
              <a:rPr b="1" lang="en-US" sz="1450">
                <a:solidFill>
                  <a:srgbClr val="CCCCCC"/>
                </a:solidFill>
                <a:highlight>
                  <a:srgbClr val="1F1F1F"/>
                </a:highlight>
                <a:latin typeface="Courier New"/>
                <a:ea typeface="Courier New"/>
                <a:cs typeface="Courier New"/>
                <a:sym typeface="Courier New"/>
              </a:rPr>
              <a:t>)</a:t>
            </a:r>
            <a:endParaRPr b="1" sz="14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Clr>
                <a:schemeClr val="dk1"/>
              </a:buClr>
              <a:buFont typeface="Arial"/>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0" name="Google Shape;190;g3a99285e230_0_0"/>
          <p:cNvPicPr preferRelativeResize="0"/>
          <p:nvPr/>
        </p:nvPicPr>
        <p:blipFill>
          <a:blip r:embed="rId3">
            <a:alphaModFix/>
          </a:blip>
          <a:stretch>
            <a:fillRect/>
          </a:stretch>
        </p:blipFill>
        <p:spPr>
          <a:xfrm>
            <a:off x="271204" y="936623"/>
            <a:ext cx="4262250" cy="2873591"/>
          </a:xfrm>
          <a:prstGeom prst="rect">
            <a:avLst/>
          </a:prstGeom>
          <a:noFill/>
          <a:ln>
            <a:noFill/>
          </a:ln>
        </p:spPr>
      </p:pic>
      <p:pic>
        <p:nvPicPr>
          <p:cNvPr id="191" name="Google Shape;191;g3a99285e230_0_0"/>
          <p:cNvPicPr preferRelativeResize="0"/>
          <p:nvPr/>
        </p:nvPicPr>
        <p:blipFill>
          <a:blip r:embed="rId4">
            <a:alphaModFix/>
          </a:blip>
          <a:stretch>
            <a:fillRect/>
          </a:stretch>
        </p:blipFill>
        <p:spPr>
          <a:xfrm>
            <a:off x="4527517" y="951266"/>
            <a:ext cx="4469945" cy="2873600"/>
          </a:xfrm>
          <a:prstGeom prst="rect">
            <a:avLst/>
          </a:prstGeom>
          <a:noFill/>
          <a:ln>
            <a:noFill/>
          </a:ln>
        </p:spPr>
      </p:pic>
      <p:sp>
        <p:nvSpPr>
          <p:cNvPr id="192" name="Google Shape;192;g3a99285e230_0_0"/>
          <p:cNvSpPr txBox="1"/>
          <p:nvPr/>
        </p:nvSpPr>
        <p:spPr>
          <a:xfrm>
            <a:off x="2063775" y="3824875"/>
            <a:ext cx="6771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500">
                <a:solidFill>
                  <a:schemeClr val="dk1"/>
                </a:solidFill>
              </a:rPr>
              <a:t>PSO</a:t>
            </a:r>
            <a:endParaRPr/>
          </a:p>
        </p:txBody>
      </p:sp>
      <p:sp>
        <p:nvSpPr>
          <p:cNvPr id="193" name="Google Shape;193;g3a99285e230_0_0"/>
          <p:cNvSpPr txBox="1"/>
          <p:nvPr/>
        </p:nvSpPr>
        <p:spPr>
          <a:xfrm>
            <a:off x="6133550" y="3824875"/>
            <a:ext cx="1685400" cy="415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rPr lang="en-US" sz="1500">
                <a:solidFill>
                  <a:schemeClr val="dk1"/>
                </a:solidFill>
              </a:rPr>
              <a:t>GA - PSO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9" name="Google Shape;199;p11"/>
          <p:cNvSpPr txBox="1"/>
          <p:nvPr/>
        </p:nvSpPr>
        <p:spPr>
          <a:xfrm>
            <a:off x="4181094" y="3021991"/>
            <a:ext cx="4197975" cy="8140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4800"/>
              <a:buFont typeface="Lato"/>
              <a:buNone/>
            </a:pPr>
            <a:r>
              <a:rPr b="1" lang="en-US" sz="4800">
                <a:solidFill>
                  <a:srgbClr val="C00000"/>
                </a:solidFill>
                <a:latin typeface="Lato"/>
                <a:ea typeface="Lato"/>
                <a:cs typeface="Lato"/>
                <a:sym typeface="Lato"/>
              </a:rPr>
              <a:t>THANK YOU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a99285e230_0_59"/>
          <p:cNvSpPr txBox="1"/>
          <p:nvPr>
            <p:ph idx="12" type="sldNum"/>
          </p:nvPr>
        </p:nvSpPr>
        <p:spPr>
          <a:xfrm>
            <a:off x="6867383" y="6572126"/>
            <a:ext cx="20574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5" name="Google Shape;205;g3a99285e230_0_59"/>
          <p:cNvSpPr txBox="1"/>
          <p:nvPr>
            <p:ph type="title"/>
          </p:nvPr>
        </p:nvSpPr>
        <p:spPr>
          <a:xfrm>
            <a:off x="235077" y="78613"/>
            <a:ext cx="8673900" cy="4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8. EPSO</a:t>
            </a:r>
            <a:endParaRPr/>
          </a:p>
        </p:txBody>
      </p:sp>
      <p:sp>
        <p:nvSpPr>
          <p:cNvPr id="206" name="Google Shape;206;g3a99285e230_0_59"/>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207" name="Google Shape;207;g3a99285e230_0_59"/>
          <p:cNvSpPr txBox="1"/>
          <p:nvPr/>
        </p:nvSpPr>
        <p:spPr>
          <a:xfrm>
            <a:off x="3507325" y="22918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a:solidFill>
                <a:schemeClr val="dk1"/>
              </a:solidFill>
            </a:endParaRPr>
          </a:p>
        </p:txBody>
      </p:sp>
      <p:sp>
        <p:nvSpPr>
          <p:cNvPr id="208" name="Google Shape;208;g3a99285e230_0_59"/>
          <p:cNvSpPr txBox="1"/>
          <p:nvPr/>
        </p:nvSpPr>
        <p:spPr>
          <a:xfrm>
            <a:off x="339225" y="871025"/>
            <a:ext cx="6861600" cy="36441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400"/>
              </a:spcBef>
              <a:spcAft>
                <a:spcPts val="0"/>
              </a:spcAft>
              <a:buClr>
                <a:schemeClr val="dk1"/>
              </a:buClr>
              <a:buSzPts val="1500"/>
              <a:buChar char="●"/>
            </a:pPr>
            <a:r>
              <a:rPr lang="en-US" sz="1500">
                <a:solidFill>
                  <a:schemeClr val="dk1"/>
                </a:solidFill>
              </a:rPr>
              <a:t>Ý tưởng: PSO được tăng cường bằng tiến hóa tham số + đột biến để tăng khả năng tìm kiếm toàn cục.</a:t>
            </a:r>
            <a:endParaRPr sz="13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Nhân bản hạt: Mỗi hạt tạo ra nhiều bản sao</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Đột biến trọng số PSO: Các hệ số ω,c1,c2 được đột biến theo phân phối chuẩn</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Chọn lọc tiến hóa: chọn nghiệm tốt nhất trong các bản sao</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Ưu điểm:</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Tiến hóa cả nghiệm lẫn tham số</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Ít bị kẹt local optimum</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Phù hợp TSP-TW vì có nhiều nghiệm bị ràng buộc chặt</a:t>
            </a:r>
            <a:endParaRPr sz="1500">
              <a:solidFill>
                <a:schemeClr val="dk1"/>
              </a:solidFill>
            </a:endParaRPr>
          </a:p>
          <a:p>
            <a:pPr indent="0" lvl="0" marL="0" rtl="0" algn="l">
              <a:lnSpc>
                <a:spcPct val="115000"/>
              </a:lnSpc>
              <a:spcBef>
                <a:spcPts val="1200"/>
              </a:spcBef>
              <a:spcAft>
                <a:spcPts val="0"/>
              </a:spcAft>
              <a:buNone/>
            </a:pPr>
            <a:r>
              <a:t/>
            </a:r>
            <a:endParaRPr sz="1500">
              <a:solidFill>
                <a:schemeClr val="dk1"/>
              </a:solidFill>
            </a:endParaRPr>
          </a:p>
          <a:p>
            <a:pPr indent="0" lvl="0" marL="0" rtl="0" algn="l">
              <a:lnSpc>
                <a:spcPct val="115000"/>
              </a:lnSpc>
              <a:spcBef>
                <a:spcPts val="1200"/>
              </a:spcBef>
              <a:spcAft>
                <a:spcPts val="1200"/>
              </a:spcAft>
              <a:buNone/>
            </a:pPr>
            <a:r>
              <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